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0"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4"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1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9" d="100"/>
          <a:sy n="59" d="100"/>
        </p:scale>
        <p:origin x="9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1A81C-839D-4664-9718-1FC01B638D6D}" type="datetimeFigureOut">
              <a:rPr lang="en-US" smtClean="0"/>
              <a:t>06-12-2025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6C08D-83CC-4291-905F-ECE9A32CCD4A}" type="slidenum">
              <a:rPr lang="en-US" smtClean="0"/>
              <a:t>‹#›</a:t>
            </a:fld>
            <a:endParaRPr lang="en-US"/>
          </a:p>
        </p:txBody>
      </p:sp>
    </p:spTree>
    <p:extLst>
      <p:ext uri="{BB962C8B-B14F-4D97-AF65-F5344CB8AC3E}">
        <p14:creationId xmlns:p14="http://schemas.microsoft.com/office/powerpoint/2010/main" val="651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2C90AD-721F-45A8-81BC-6484551F7DDF}" type="datetimeFigureOut">
              <a:rPr lang="en-US" smtClean="0"/>
              <a:t>06-12-2025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229640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2C90AD-721F-45A8-81BC-6484551F7DDF}" type="datetimeFigureOut">
              <a:rPr lang="en-US" smtClean="0"/>
              <a:t>06-12-2025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1018640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2C90AD-721F-45A8-81BC-6484551F7DDF}" type="datetimeFigureOut">
              <a:rPr lang="en-US" smtClean="0"/>
              <a:t>06-12-2025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393017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2C90AD-721F-45A8-81BC-6484551F7DDF}" type="datetimeFigureOut">
              <a:rPr lang="en-US" smtClean="0"/>
              <a:t>06-12-2025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127159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2C90AD-721F-45A8-81BC-6484551F7DDF}" type="datetimeFigureOut">
              <a:rPr lang="en-US" smtClean="0"/>
              <a:t>06-12-2025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1132897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2C90AD-721F-45A8-81BC-6484551F7DDF}" type="datetimeFigureOut">
              <a:rPr lang="en-US" smtClean="0"/>
              <a:t>06-12-2025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289619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2C90AD-721F-45A8-81BC-6484551F7DDF}" type="datetimeFigureOut">
              <a:rPr lang="en-US" smtClean="0"/>
              <a:t>06-12-2025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2641993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2C90AD-721F-45A8-81BC-6484551F7DDF}" type="datetimeFigureOut">
              <a:rPr lang="en-US" smtClean="0"/>
              <a:t>06-12-2025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421560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2C90AD-721F-45A8-81BC-6484551F7DDF}" type="datetimeFigureOut">
              <a:rPr lang="en-US" smtClean="0"/>
              <a:t>06-12-2025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2577324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2C90AD-721F-45A8-81BC-6484551F7DDF}" type="datetimeFigureOut">
              <a:rPr lang="en-US" smtClean="0"/>
              <a:t>06-12-2025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88412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2C90AD-721F-45A8-81BC-6484551F7DDF}" type="datetimeFigureOut">
              <a:rPr lang="en-US" smtClean="0"/>
              <a:t>06-12-2025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74387-A7C9-4052-AE54-70C250ACFAEB}" type="slidenum">
              <a:rPr lang="en-US" smtClean="0"/>
              <a:t>‹#›</a:t>
            </a:fld>
            <a:endParaRPr lang="en-US"/>
          </a:p>
        </p:txBody>
      </p:sp>
    </p:spTree>
    <p:extLst>
      <p:ext uri="{BB962C8B-B14F-4D97-AF65-F5344CB8AC3E}">
        <p14:creationId xmlns:p14="http://schemas.microsoft.com/office/powerpoint/2010/main" val="48376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C90AD-721F-45A8-81BC-6484551F7DDF}" type="datetimeFigureOut">
              <a:rPr lang="en-US" smtClean="0"/>
              <a:t>06-12-2025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874387-A7C9-4052-AE54-70C250ACFAEB}" type="slidenum">
              <a:rPr lang="en-US" smtClean="0"/>
              <a:t>‹#›</a:t>
            </a:fld>
            <a:endParaRPr lang="en-US"/>
          </a:p>
        </p:txBody>
      </p:sp>
    </p:spTree>
    <p:extLst>
      <p:ext uri="{BB962C8B-B14F-4D97-AF65-F5344CB8AC3E}">
        <p14:creationId xmlns:p14="http://schemas.microsoft.com/office/powerpoint/2010/main" val="1855685527"/>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F755CA-038C-90B1-B335-BA7E3114A8C9}"/>
              </a:ext>
            </a:extLst>
          </p:cNvPr>
          <p:cNvSpPr txBox="1"/>
          <p:nvPr/>
        </p:nvSpPr>
        <p:spPr>
          <a:xfrm>
            <a:off x="1268186" y="1886024"/>
            <a:ext cx="9655628" cy="646331"/>
          </a:xfrm>
          <a:prstGeom prst="rect">
            <a:avLst/>
          </a:prstGeom>
          <a:noFill/>
        </p:spPr>
        <p:txBody>
          <a:bodyPr wrap="square" rtlCol="0">
            <a:spAutoFit/>
          </a:bodyPr>
          <a:lstStyle/>
          <a:p>
            <a:pPr algn="ctr"/>
            <a:r>
              <a:rPr lang="en-US" sz="3600" b="1" dirty="0">
                <a:latin typeface="Bahnschrift SemiBold" panose="020B0502040204020203" pitchFamily="34" charset="0"/>
              </a:rPr>
              <a:t>QuickBite Crisis Analysis &amp; Recovery Insights</a:t>
            </a:r>
            <a:endParaRPr lang="en-IN" sz="3600" b="1" dirty="0">
              <a:latin typeface="Bahnschrift SemiBold" panose="020B0502040204020203" pitchFamily="34" charset="0"/>
            </a:endParaRPr>
          </a:p>
        </p:txBody>
      </p:sp>
      <p:sp>
        <p:nvSpPr>
          <p:cNvPr id="5" name="TextBox 4">
            <a:extLst>
              <a:ext uri="{FF2B5EF4-FFF2-40B4-BE49-F238E27FC236}">
                <a16:creationId xmlns:a16="http://schemas.microsoft.com/office/drawing/2014/main" id="{2A307A07-BE91-A900-15F7-8F79CD148C66}"/>
              </a:ext>
            </a:extLst>
          </p:cNvPr>
          <p:cNvSpPr txBox="1"/>
          <p:nvPr/>
        </p:nvSpPr>
        <p:spPr>
          <a:xfrm>
            <a:off x="2863808" y="2670855"/>
            <a:ext cx="6094268" cy="369332"/>
          </a:xfrm>
          <a:prstGeom prst="rect">
            <a:avLst/>
          </a:prstGeom>
          <a:noFill/>
        </p:spPr>
        <p:txBody>
          <a:bodyPr wrap="square">
            <a:spAutoFit/>
          </a:bodyPr>
          <a:lstStyle/>
          <a:p>
            <a:pPr algn="ctr" rtl="0">
              <a:buNone/>
            </a:pPr>
            <a:r>
              <a:rPr lang="en-IN" b="1" i="0" dirty="0">
                <a:effectLst/>
                <a:latin typeface="Bahnschrift SemiBold" panose="020B0502040204020203" pitchFamily="34" charset="0"/>
              </a:rPr>
              <a:t>Domain: </a:t>
            </a:r>
            <a:r>
              <a:rPr lang="en-IN" b="0" i="0" dirty="0">
                <a:effectLst/>
                <a:latin typeface="Bahnschrift SemiBold" panose="020B0502040204020203" pitchFamily="34" charset="0"/>
              </a:rPr>
              <a:t>Food Delivery &amp; Consumer Analytics</a:t>
            </a:r>
            <a:endParaRPr lang="en-IN" dirty="0">
              <a:effectLst/>
              <a:latin typeface="Bahnschrift SemiBold" panose="020B0502040204020203" pitchFamily="34" charset="0"/>
            </a:endParaRPr>
          </a:p>
        </p:txBody>
      </p:sp>
      <p:sp>
        <p:nvSpPr>
          <p:cNvPr id="6" name="TextBox 5">
            <a:extLst>
              <a:ext uri="{FF2B5EF4-FFF2-40B4-BE49-F238E27FC236}">
                <a16:creationId xmlns:a16="http://schemas.microsoft.com/office/drawing/2014/main" id="{909512DA-CAC2-31D8-00F3-8536C9FD6921}"/>
              </a:ext>
            </a:extLst>
          </p:cNvPr>
          <p:cNvSpPr txBox="1"/>
          <p:nvPr/>
        </p:nvSpPr>
        <p:spPr>
          <a:xfrm>
            <a:off x="2863808" y="3040187"/>
            <a:ext cx="6094268" cy="369332"/>
          </a:xfrm>
          <a:prstGeom prst="rect">
            <a:avLst/>
          </a:prstGeom>
          <a:noFill/>
        </p:spPr>
        <p:txBody>
          <a:bodyPr wrap="square">
            <a:spAutoFit/>
          </a:bodyPr>
          <a:lstStyle/>
          <a:p>
            <a:pPr algn="ctr" rtl="0">
              <a:buNone/>
            </a:pPr>
            <a:r>
              <a:rPr lang="en-IN" b="0" i="0" dirty="0">
                <a:effectLst/>
                <a:latin typeface="Bahnschrift SemiBold" panose="020B0502040204020203" pitchFamily="34" charset="0"/>
              </a:rPr>
              <a:t>Function: Crisis Recovery &amp; Business Strategy</a:t>
            </a:r>
            <a:endParaRPr lang="en-IN" dirty="0">
              <a:effectLst/>
              <a:latin typeface="Bahnschrift SemiBold" panose="020B0502040204020203" pitchFamily="34" charset="0"/>
            </a:endParaRPr>
          </a:p>
        </p:txBody>
      </p:sp>
      <p:sp>
        <p:nvSpPr>
          <p:cNvPr id="7" name="TextBox 6">
            <a:extLst>
              <a:ext uri="{FF2B5EF4-FFF2-40B4-BE49-F238E27FC236}">
                <a16:creationId xmlns:a16="http://schemas.microsoft.com/office/drawing/2014/main" id="{1285EB2A-1A31-D2FC-9FFE-5AF13AEB456D}"/>
              </a:ext>
            </a:extLst>
          </p:cNvPr>
          <p:cNvSpPr txBox="1"/>
          <p:nvPr/>
        </p:nvSpPr>
        <p:spPr>
          <a:xfrm>
            <a:off x="2438832" y="3501852"/>
            <a:ext cx="6944220" cy="461665"/>
          </a:xfrm>
          <a:prstGeom prst="rect">
            <a:avLst/>
          </a:prstGeom>
          <a:noFill/>
        </p:spPr>
        <p:txBody>
          <a:bodyPr wrap="square">
            <a:spAutoFit/>
          </a:bodyPr>
          <a:lstStyle/>
          <a:p>
            <a:pPr algn="ctr" rtl="0">
              <a:buNone/>
            </a:pPr>
            <a:r>
              <a:rPr lang="en-IN" sz="2400" b="1" i="0" dirty="0">
                <a:effectLst/>
                <a:latin typeface="Bahnschrift SemiBold" panose="020B0502040204020203" pitchFamily="34" charset="0"/>
              </a:rPr>
              <a:t>CODEBASICS RESUME PROJECT CHALLENGE #18</a:t>
            </a:r>
            <a:endParaRPr lang="en-IN" sz="2400" b="1" dirty="0">
              <a:effectLst/>
              <a:latin typeface="Bahnschrift SemiBold" panose="020B0502040204020203" pitchFamily="34" charset="0"/>
            </a:endParaRPr>
          </a:p>
        </p:txBody>
      </p:sp>
      <p:sp>
        <p:nvSpPr>
          <p:cNvPr id="3" name="Rectangle 1">
            <a:extLst>
              <a:ext uri="{FF2B5EF4-FFF2-40B4-BE49-F238E27FC236}">
                <a16:creationId xmlns:a16="http://schemas.microsoft.com/office/drawing/2014/main" id="{AF719AB7-BE9C-C950-1FEB-28CFA6685720}"/>
              </a:ext>
            </a:extLst>
          </p:cNvPr>
          <p:cNvSpPr>
            <a:spLocks noChangeArrowheads="1"/>
          </p:cNvSpPr>
          <p:nvPr/>
        </p:nvSpPr>
        <p:spPr bwMode="auto">
          <a:xfrm>
            <a:off x="6689271" y="4055850"/>
            <a:ext cx="42345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Bahnschrift SemiBold" panose="020B0502040204020203" pitchFamily="34" charset="0"/>
              </a:rPr>
              <a:t>Presented by: Nirbhay Kumar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Bahnschrift SemiBold" panose="020B0502040204020203" pitchFamily="34" charset="0"/>
            </a:endParaRPr>
          </a:p>
        </p:txBody>
      </p:sp>
      <p:pic>
        <p:nvPicPr>
          <p:cNvPr id="39" name="Picture 38">
            <a:extLst>
              <a:ext uri="{FF2B5EF4-FFF2-40B4-BE49-F238E27FC236}">
                <a16:creationId xmlns:a16="http://schemas.microsoft.com/office/drawing/2014/main" id="{D591D38E-6021-EDA1-6DE9-2A7A7BE1E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492" y="5427717"/>
            <a:ext cx="964144" cy="964144"/>
          </a:xfrm>
          <a:prstGeom prst="rect">
            <a:avLst/>
          </a:prstGeom>
        </p:spPr>
      </p:pic>
      <p:pic>
        <p:nvPicPr>
          <p:cNvPr id="1026" name="Picture 2" descr="codebasics | Listen to Podcasts On Demand Free | TuneIn">
            <a:extLst>
              <a:ext uri="{FF2B5EF4-FFF2-40B4-BE49-F238E27FC236}">
                <a16:creationId xmlns:a16="http://schemas.microsoft.com/office/drawing/2014/main" id="{955A198F-A404-7C96-E372-70E56F2473DF}"/>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2706292" y="1600200"/>
            <a:ext cx="6002279" cy="3422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996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2105B79B-8122-CE1F-D6F1-F52963C518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732CAA-B53E-4760-BA4D-75E391436A68}"/>
              </a:ext>
            </a:extLst>
          </p:cNvPr>
          <p:cNvSpPr txBox="1"/>
          <p:nvPr/>
        </p:nvSpPr>
        <p:spPr>
          <a:xfrm>
            <a:off x="3592718" y="979714"/>
            <a:ext cx="4636447" cy="523220"/>
          </a:xfrm>
          <a:prstGeom prst="rect">
            <a:avLst/>
          </a:prstGeom>
          <a:noFill/>
        </p:spPr>
        <p:txBody>
          <a:bodyPr wrap="square" rtlCol="0">
            <a:spAutoFit/>
          </a:bodyPr>
          <a:lstStyle/>
          <a:p>
            <a:pPr algn="ctr"/>
            <a:r>
              <a:rPr lang="en-US" sz="2800" b="1" dirty="0"/>
              <a:t>PROBLEM STATEMENT</a:t>
            </a:r>
          </a:p>
        </p:txBody>
      </p:sp>
      <p:sp>
        <p:nvSpPr>
          <p:cNvPr id="3" name="TextBox 2">
            <a:extLst>
              <a:ext uri="{FF2B5EF4-FFF2-40B4-BE49-F238E27FC236}">
                <a16:creationId xmlns:a16="http://schemas.microsoft.com/office/drawing/2014/main" id="{AE2EF30D-7570-F8F8-7328-EC0D2C89D40C}"/>
              </a:ext>
            </a:extLst>
          </p:cNvPr>
          <p:cNvSpPr txBox="1"/>
          <p:nvPr/>
        </p:nvSpPr>
        <p:spPr>
          <a:xfrm>
            <a:off x="1436913" y="1698877"/>
            <a:ext cx="10058401" cy="3139321"/>
          </a:xfrm>
          <a:prstGeom prst="rect">
            <a:avLst/>
          </a:prstGeom>
          <a:noFill/>
        </p:spPr>
        <p:txBody>
          <a:bodyPr wrap="square" rtlCol="0">
            <a:spAutoFit/>
          </a:bodyPr>
          <a:lstStyle/>
          <a:p>
            <a:r>
              <a:rPr lang="en-US" dirty="0">
                <a:latin typeface="Bahnschrift SemiBold" panose="020B0502040204020203" pitchFamily="34" charset="0"/>
              </a:rPr>
              <a:t>QuickBite Express, a Bengaluru-based food-delivery startup, faced a </a:t>
            </a:r>
            <a:r>
              <a:rPr lang="en-US" b="1" dirty="0">
                <a:latin typeface="Bahnschrift SemiBold" panose="020B0502040204020203" pitchFamily="34" charset="0"/>
              </a:rPr>
              <a:t>major crisis in June 2025</a:t>
            </a:r>
            <a:r>
              <a:rPr lang="en-US" dirty="0">
                <a:latin typeface="Bahnschrift SemiBold" panose="020B0502040204020203" pitchFamily="34" charset="0"/>
              </a:rPr>
              <a:t> due to a </a:t>
            </a:r>
            <a:r>
              <a:rPr lang="en-US" b="1" dirty="0">
                <a:latin typeface="Bahnschrift SemiBold" panose="020B0502040204020203" pitchFamily="34" charset="0"/>
              </a:rPr>
              <a:t>viral food-safety incident</a:t>
            </a:r>
            <a:r>
              <a:rPr lang="en-US" dirty="0">
                <a:latin typeface="Bahnschrift SemiBold" panose="020B0502040204020203" pitchFamily="34" charset="0"/>
              </a:rPr>
              <a:t> and a </a:t>
            </a:r>
            <a:r>
              <a:rPr lang="en-US" b="1" dirty="0">
                <a:latin typeface="Bahnschrift SemiBold" panose="020B0502040204020203" pitchFamily="34" charset="0"/>
              </a:rPr>
              <a:t>week-long delivery outage</a:t>
            </a:r>
            <a:r>
              <a:rPr lang="en-US" dirty="0">
                <a:latin typeface="Bahnschrift SemiBold" panose="020B0502040204020203" pitchFamily="34" charset="0"/>
              </a:rPr>
              <a:t> during the monsoon season.</a:t>
            </a:r>
          </a:p>
          <a:p>
            <a:r>
              <a:rPr lang="en-US" dirty="0">
                <a:latin typeface="Bahnschrift SemiBold" panose="020B0502040204020203" pitchFamily="34" charset="0"/>
              </a:rPr>
              <a:t>This crisis led to:</a:t>
            </a:r>
          </a:p>
          <a:p>
            <a:pPr marL="285750" indent="-285750">
              <a:buFont typeface="Arial" panose="020B0604020202020204" pitchFamily="34" charset="0"/>
              <a:buChar char="•"/>
            </a:pPr>
            <a:r>
              <a:rPr lang="en-US" dirty="0">
                <a:latin typeface="Bahnschrift SemiBold" panose="020B0502040204020203" pitchFamily="34" charset="0"/>
              </a:rPr>
              <a:t>A sharp decline in daily orders</a:t>
            </a:r>
          </a:p>
          <a:p>
            <a:pPr marL="285750" indent="-285750">
              <a:buFont typeface="Arial" panose="020B0604020202020204" pitchFamily="34" charset="0"/>
              <a:buChar char="•"/>
            </a:pPr>
            <a:r>
              <a:rPr lang="en-US" dirty="0">
                <a:latin typeface="Bahnschrift SemiBold" panose="020B0502040204020203" pitchFamily="34" charset="0"/>
              </a:rPr>
              <a:t>A significant drop in customer satisfaction ratings</a:t>
            </a:r>
          </a:p>
          <a:p>
            <a:pPr marL="285750" indent="-285750">
              <a:buFont typeface="Arial" panose="020B0604020202020204" pitchFamily="34" charset="0"/>
              <a:buChar char="•"/>
            </a:pPr>
            <a:r>
              <a:rPr lang="en-US" dirty="0">
                <a:latin typeface="Bahnschrift SemiBold" panose="020B0502040204020203" pitchFamily="34" charset="0"/>
              </a:rPr>
              <a:t>Many partner restaurants shifting to competitors</a:t>
            </a:r>
          </a:p>
          <a:p>
            <a:pPr marL="285750" indent="-285750">
              <a:buFont typeface="Arial" panose="020B0604020202020204" pitchFamily="34" charset="0"/>
              <a:buChar char="•"/>
            </a:pPr>
            <a:r>
              <a:rPr lang="en-US" dirty="0">
                <a:latin typeface="Bahnschrift SemiBold" panose="020B0502040204020203" pitchFamily="34" charset="0"/>
              </a:rPr>
              <a:t>Customer acquisition cost (CAC) increasing nearly 3</a:t>
            </a:r>
          </a:p>
          <a:p>
            <a:pPr marL="285750" indent="-285750">
              <a:buFont typeface="Arial" panose="020B0604020202020204" pitchFamily="34" charset="0"/>
              <a:buChar char="•"/>
            </a:pPr>
            <a:r>
              <a:rPr lang="en-US" dirty="0">
                <a:latin typeface="Bahnschrift SemiBold" panose="020B0502040204020203" pitchFamily="34" charset="0"/>
              </a:rPr>
              <a:t>A large portion of active and loyal customers becoming inactive</a:t>
            </a:r>
          </a:p>
          <a:p>
            <a:r>
              <a:rPr lang="en-US" dirty="0">
                <a:latin typeface="Bahnschrift SemiBold" panose="020B0502040204020203" pitchFamily="34" charset="0"/>
              </a:rPr>
              <a:t>To recover, QuickBite upgraded its food-safety protocols, improved delivery infrastructure, and allocated a major recovery budget.</a:t>
            </a:r>
          </a:p>
          <a:p>
            <a:endParaRPr lang="en-US" dirty="0">
              <a:latin typeface="Bahnschrift SemiBold" panose="020B0502040204020203" pitchFamily="34" charset="0"/>
            </a:endParaRPr>
          </a:p>
        </p:txBody>
      </p:sp>
    </p:spTree>
    <p:extLst>
      <p:ext uri="{BB962C8B-B14F-4D97-AF65-F5344CB8AC3E}">
        <p14:creationId xmlns:p14="http://schemas.microsoft.com/office/powerpoint/2010/main" val="470526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C7F2C2F6-D4C9-E714-10A9-316A6F8954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3DFE91-2EC1-CE2E-523B-BA01C21007C2}"/>
              </a:ext>
            </a:extLst>
          </p:cNvPr>
          <p:cNvSpPr txBox="1"/>
          <p:nvPr/>
        </p:nvSpPr>
        <p:spPr>
          <a:xfrm>
            <a:off x="3614490" y="865639"/>
            <a:ext cx="4636447" cy="646331"/>
          </a:xfrm>
          <a:prstGeom prst="rect">
            <a:avLst/>
          </a:prstGeom>
          <a:noFill/>
        </p:spPr>
        <p:txBody>
          <a:bodyPr wrap="square" rtlCol="0">
            <a:spAutoFit/>
          </a:bodyPr>
          <a:lstStyle/>
          <a:p>
            <a:pPr algn="ctr"/>
            <a:r>
              <a:rPr lang="en-US" sz="3600" b="1" dirty="0"/>
              <a:t>OVERVIEW</a:t>
            </a:r>
            <a:r>
              <a:rPr lang="en-US" sz="2800" b="1" dirty="0"/>
              <a:t> </a:t>
            </a:r>
          </a:p>
        </p:txBody>
      </p:sp>
      <p:sp>
        <p:nvSpPr>
          <p:cNvPr id="3" name="TextBox 2">
            <a:extLst>
              <a:ext uri="{FF2B5EF4-FFF2-40B4-BE49-F238E27FC236}">
                <a16:creationId xmlns:a16="http://schemas.microsoft.com/office/drawing/2014/main" id="{CBF2A1E6-6364-601C-836D-0FB9F12889BB}"/>
              </a:ext>
            </a:extLst>
          </p:cNvPr>
          <p:cNvSpPr txBox="1"/>
          <p:nvPr/>
        </p:nvSpPr>
        <p:spPr>
          <a:xfrm>
            <a:off x="1436913" y="1698877"/>
            <a:ext cx="10058401" cy="3693319"/>
          </a:xfrm>
          <a:prstGeom prst="rect">
            <a:avLst/>
          </a:prstGeom>
          <a:noFill/>
        </p:spPr>
        <p:txBody>
          <a:bodyPr wrap="square" rtlCol="0">
            <a:spAutoFit/>
          </a:bodyPr>
          <a:lstStyle/>
          <a:p>
            <a:r>
              <a:rPr lang="en-US" dirty="0">
                <a:latin typeface="Bahnschrift SemiBold" panose="020B0502040204020203" pitchFamily="34" charset="0"/>
              </a:rPr>
              <a:t>This analysis evaluates the </a:t>
            </a:r>
            <a:r>
              <a:rPr lang="en-US" b="1" dirty="0">
                <a:latin typeface="Bahnschrift SemiBold" panose="020B0502040204020203" pitchFamily="34" charset="0"/>
              </a:rPr>
              <a:t>impact of the June 2025 crisis on QuickBite’s business performance</a:t>
            </a:r>
            <a:r>
              <a:rPr lang="en-US" dirty="0">
                <a:latin typeface="Bahnschrift SemiBold" panose="020B0502040204020203" pitchFamily="34" charset="0"/>
              </a:rPr>
              <a:t>, covering customers, orders, delivery operations, restaurant partners, and overall sentiment.</a:t>
            </a:r>
            <a:br>
              <a:rPr lang="en-US" dirty="0">
                <a:latin typeface="Bahnschrift SemiBold" panose="020B0502040204020203" pitchFamily="34" charset="0"/>
              </a:rPr>
            </a:br>
            <a:r>
              <a:rPr lang="en-US" dirty="0">
                <a:latin typeface="Bahnschrift SemiBold" panose="020B0502040204020203" pitchFamily="34" charset="0"/>
              </a:rPr>
              <a:t>By comparing </a:t>
            </a:r>
            <a:r>
              <a:rPr lang="en-US" b="1" dirty="0">
                <a:latin typeface="Bahnschrift SemiBold" panose="020B0502040204020203" pitchFamily="34" charset="0"/>
              </a:rPr>
              <a:t>pre-crisis vs crisis</a:t>
            </a:r>
            <a:r>
              <a:rPr lang="en-US" dirty="0">
                <a:latin typeface="Bahnschrift SemiBold" panose="020B0502040204020203" pitchFamily="34" charset="0"/>
              </a:rPr>
              <a:t> periods, the study uncovers how demand, revenue, customer engagement, and service quality were affected.</a:t>
            </a:r>
          </a:p>
          <a:p>
            <a:r>
              <a:rPr lang="en-US" dirty="0">
                <a:latin typeface="Bahnschrift SemiBold" panose="020B0502040204020203" pitchFamily="34" charset="0"/>
              </a:rPr>
              <a:t>The dashboard and insights aim to:</a:t>
            </a:r>
          </a:p>
          <a:p>
            <a:pPr marL="285750" indent="-285750">
              <a:buFont typeface="Arial" panose="020B0604020202020204" pitchFamily="34" charset="0"/>
              <a:buChar char="•"/>
            </a:pPr>
            <a:r>
              <a:rPr lang="en-US" dirty="0">
                <a:latin typeface="Bahnschrift SemiBold" panose="020B0502040204020203" pitchFamily="34" charset="0"/>
              </a:rPr>
              <a:t>Identify </a:t>
            </a:r>
            <a:r>
              <a:rPr lang="en-US" b="1" dirty="0">
                <a:latin typeface="Bahnschrift SemiBold" panose="020B0502040204020203" pitchFamily="34" charset="0"/>
              </a:rPr>
              <a:t>where the biggest losses occurred</a:t>
            </a:r>
            <a:r>
              <a:rPr lang="en-US" dirty="0">
                <a:latin typeface="Bahnschrift SemiBold" panose="020B0502040204020203" pitchFamily="34" charset="0"/>
              </a:rPr>
              <a:t> (cities, cuisines, restaurants)</a:t>
            </a:r>
          </a:p>
          <a:p>
            <a:pPr marL="285750" indent="-285750">
              <a:buFont typeface="Arial" panose="020B0604020202020204" pitchFamily="34" charset="0"/>
              <a:buChar char="•"/>
            </a:pPr>
            <a:r>
              <a:rPr lang="en-US" dirty="0">
                <a:latin typeface="Bahnschrift SemiBold" panose="020B0502040204020203" pitchFamily="34" charset="0"/>
              </a:rPr>
              <a:t>Understand </a:t>
            </a:r>
            <a:r>
              <a:rPr lang="en-US" b="1" dirty="0">
                <a:latin typeface="Bahnschrift SemiBold" panose="020B0502040204020203" pitchFamily="34" charset="0"/>
              </a:rPr>
              <a:t>how customer behavior shifted</a:t>
            </a:r>
            <a:r>
              <a:rPr lang="en-US" dirty="0">
                <a:latin typeface="Bahnschrift SemiBold" panose="020B0502040204020203" pitchFamily="34" charset="0"/>
              </a:rPr>
              <a:t> during the crisis</a:t>
            </a:r>
          </a:p>
          <a:p>
            <a:pPr marL="285750" indent="-285750">
              <a:buFont typeface="Arial" panose="020B0604020202020204" pitchFamily="34" charset="0"/>
              <a:buChar char="•"/>
            </a:pPr>
            <a:r>
              <a:rPr lang="en-US" dirty="0">
                <a:latin typeface="Bahnschrift SemiBold" panose="020B0502040204020203" pitchFamily="34" charset="0"/>
              </a:rPr>
              <a:t>Diagnose </a:t>
            </a:r>
            <a:r>
              <a:rPr lang="en-US" b="1" dirty="0">
                <a:latin typeface="Bahnschrift SemiBold" panose="020B0502040204020203" pitchFamily="34" charset="0"/>
              </a:rPr>
              <a:t>delivery inefficiencies and SLA breakdowns</a:t>
            </a:r>
            <a:endParaRPr lang="en-US" dirty="0">
              <a:latin typeface="Bahnschrift SemiBold" panose="020B0502040204020203" pitchFamily="34" charset="0"/>
            </a:endParaRPr>
          </a:p>
          <a:p>
            <a:pPr marL="285750" indent="-285750">
              <a:buFont typeface="Arial" panose="020B0604020202020204" pitchFamily="34" charset="0"/>
              <a:buChar char="•"/>
            </a:pPr>
            <a:r>
              <a:rPr lang="en-US" dirty="0">
                <a:latin typeface="Bahnschrift SemiBold" panose="020B0502040204020203" pitchFamily="34" charset="0"/>
              </a:rPr>
              <a:t>Analyse </a:t>
            </a:r>
            <a:r>
              <a:rPr lang="en-US" b="1" dirty="0">
                <a:latin typeface="Bahnschrift SemiBold" panose="020B0502040204020203" pitchFamily="34" charset="0"/>
              </a:rPr>
              <a:t>review sentiment</a:t>
            </a:r>
            <a:r>
              <a:rPr lang="en-US" dirty="0">
                <a:latin typeface="Bahnschrift SemiBold" panose="020B0502040204020203" pitchFamily="34" charset="0"/>
              </a:rPr>
              <a:t> to detect major pain points</a:t>
            </a:r>
          </a:p>
          <a:p>
            <a:pPr marL="285750" indent="-285750">
              <a:buFont typeface="Arial" panose="020B0604020202020204" pitchFamily="34" charset="0"/>
              <a:buChar char="•"/>
            </a:pPr>
            <a:r>
              <a:rPr lang="en-US" dirty="0">
                <a:latin typeface="Bahnschrift SemiBold" panose="020B0502040204020203" pitchFamily="34" charset="0"/>
              </a:rPr>
              <a:t>Highlight </a:t>
            </a:r>
            <a:r>
              <a:rPr lang="en-US" b="1" dirty="0">
                <a:latin typeface="Bahnschrift SemiBold" panose="020B0502040204020203" pitchFamily="34" charset="0"/>
              </a:rPr>
              <a:t>key drivers of churn and loyalty</a:t>
            </a:r>
            <a:endParaRPr lang="en-US" dirty="0">
              <a:latin typeface="Bahnschrift SemiBold" panose="020B0502040204020203" pitchFamily="34" charset="0"/>
            </a:endParaRPr>
          </a:p>
          <a:p>
            <a:pPr marL="285750" indent="-285750">
              <a:buFont typeface="Arial" panose="020B0604020202020204" pitchFamily="34" charset="0"/>
              <a:buChar char="•"/>
            </a:pPr>
            <a:r>
              <a:rPr lang="en-US" dirty="0">
                <a:latin typeface="Bahnschrift SemiBold" panose="020B0502040204020203" pitchFamily="34" charset="0"/>
              </a:rPr>
              <a:t>Provide </a:t>
            </a:r>
            <a:r>
              <a:rPr lang="en-US" b="1" dirty="0">
                <a:latin typeface="Bahnschrift SemiBold" panose="020B0502040204020203" pitchFamily="34" charset="0"/>
              </a:rPr>
              <a:t>strategic recommendations</a:t>
            </a:r>
            <a:r>
              <a:rPr lang="en-US" dirty="0">
                <a:latin typeface="Bahnschrift SemiBold" panose="020B0502040204020203" pitchFamily="34" charset="0"/>
              </a:rPr>
              <a:t> for recovery and trust rebuilding</a:t>
            </a:r>
          </a:p>
          <a:p>
            <a:r>
              <a:rPr lang="en-US" dirty="0">
                <a:latin typeface="Bahnschrift SemiBold" panose="020B0502040204020203" pitchFamily="34" charset="0"/>
              </a:rPr>
              <a:t>Overall, this analysis helps QuickBite’s leadership make </a:t>
            </a:r>
            <a:r>
              <a:rPr lang="en-US" b="1" dirty="0">
                <a:latin typeface="Bahnschrift SemiBold" panose="020B0502040204020203" pitchFamily="34" charset="0"/>
              </a:rPr>
              <a:t>data-backed decisions</a:t>
            </a:r>
            <a:r>
              <a:rPr lang="en-US" dirty="0">
                <a:latin typeface="Bahnschrift SemiBold" panose="020B0502040204020203" pitchFamily="34" charset="0"/>
              </a:rPr>
              <a:t> to stabilize operations, regain customer confidence, and rebuild growth.</a:t>
            </a:r>
          </a:p>
        </p:txBody>
      </p:sp>
    </p:spTree>
    <p:extLst>
      <p:ext uri="{BB962C8B-B14F-4D97-AF65-F5344CB8AC3E}">
        <p14:creationId xmlns:p14="http://schemas.microsoft.com/office/powerpoint/2010/main" val="41226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363940B9-F928-6DC8-D45A-AB25DEDE19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C9248F-A202-6192-ED2D-1CCD2786E3F7}"/>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7C1A6AD6-76DA-8EC7-4912-F233019F4D36}"/>
              </a:ext>
            </a:extLst>
          </p:cNvPr>
          <p:cNvSpPr txBox="1"/>
          <p:nvPr/>
        </p:nvSpPr>
        <p:spPr>
          <a:xfrm>
            <a:off x="1415141" y="969535"/>
            <a:ext cx="10058401" cy="646331"/>
          </a:xfrm>
          <a:prstGeom prst="rect">
            <a:avLst/>
          </a:prstGeom>
          <a:noFill/>
        </p:spPr>
        <p:txBody>
          <a:bodyPr wrap="square" rtlCol="0">
            <a:spAutoFit/>
          </a:bodyPr>
          <a:lstStyle/>
          <a:p>
            <a:r>
              <a:rPr lang="en-US" b="1" dirty="0"/>
              <a:t>1.</a:t>
            </a:r>
            <a:r>
              <a:rPr lang="en-US" dirty="0"/>
              <a:t> Monthly Orders: Compare total orders across pre-crisis (Jan–May 2025) vs crisis (Jun–Sep 2025). How severe is the decline? </a:t>
            </a:r>
          </a:p>
        </p:txBody>
      </p:sp>
      <p:pic>
        <p:nvPicPr>
          <p:cNvPr id="6" name="Picture 5">
            <a:extLst>
              <a:ext uri="{FF2B5EF4-FFF2-40B4-BE49-F238E27FC236}">
                <a16:creationId xmlns:a16="http://schemas.microsoft.com/office/drawing/2014/main" id="{8B1DE9EA-985E-8CBD-1EC8-530DC79EAE81}"/>
              </a:ext>
            </a:extLst>
          </p:cNvPr>
          <p:cNvPicPr>
            <a:picLocks noChangeAspect="1"/>
          </p:cNvPicPr>
          <p:nvPr/>
        </p:nvPicPr>
        <p:blipFill>
          <a:blip r:embed="rId2"/>
          <a:stretch>
            <a:fillRect/>
          </a:stretch>
        </p:blipFill>
        <p:spPr>
          <a:xfrm>
            <a:off x="1502229" y="1781002"/>
            <a:ext cx="6618512" cy="3128454"/>
          </a:xfrm>
          <a:prstGeom prst="rect">
            <a:avLst/>
          </a:prstGeom>
        </p:spPr>
      </p:pic>
      <p:pic>
        <p:nvPicPr>
          <p:cNvPr id="8" name="Picture 7">
            <a:extLst>
              <a:ext uri="{FF2B5EF4-FFF2-40B4-BE49-F238E27FC236}">
                <a16:creationId xmlns:a16="http://schemas.microsoft.com/office/drawing/2014/main" id="{3D649B9F-5EF3-08E3-1046-E2CDF04AAAF9}"/>
              </a:ext>
            </a:extLst>
          </p:cNvPr>
          <p:cNvPicPr>
            <a:picLocks noChangeAspect="1"/>
          </p:cNvPicPr>
          <p:nvPr/>
        </p:nvPicPr>
        <p:blipFill>
          <a:blip r:embed="rId3"/>
          <a:stretch>
            <a:fillRect/>
          </a:stretch>
        </p:blipFill>
        <p:spPr>
          <a:xfrm>
            <a:off x="8369213" y="1604980"/>
            <a:ext cx="3378374" cy="596931"/>
          </a:xfrm>
          <a:prstGeom prst="rect">
            <a:avLst/>
          </a:prstGeom>
        </p:spPr>
      </p:pic>
      <p:sp>
        <p:nvSpPr>
          <p:cNvPr id="9" name="TextBox 8">
            <a:extLst>
              <a:ext uri="{FF2B5EF4-FFF2-40B4-BE49-F238E27FC236}">
                <a16:creationId xmlns:a16="http://schemas.microsoft.com/office/drawing/2014/main" id="{805FA66C-F997-7FB4-0F27-0CC3A547A55B}"/>
              </a:ext>
            </a:extLst>
          </p:cNvPr>
          <p:cNvSpPr txBox="1"/>
          <p:nvPr/>
        </p:nvSpPr>
        <p:spPr>
          <a:xfrm>
            <a:off x="1502229" y="5170714"/>
            <a:ext cx="10384971" cy="646331"/>
          </a:xfrm>
          <a:prstGeom prst="rect">
            <a:avLst/>
          </a:prstGeom>
          <a:noFill/>
        </p:spPr>
        <p:txBody>
          <a:bodyPr wrap="square" rtlCol="0">
            <a:spAutoFit/>
          </a:bodyPr>
          <a:lstStyle/>
          <a:p>
            <a:r>
              <a:rPr lang="en-US" dirty="0"/>
              <a:t>QuickBite experienced a sharp demand collapse after June 2025, with monthly orders and revenue dropping by nearly 70% — falling from stable 20K+ orders to below 8K during the crisis months.</a:t>
            </a:r>
          </a:p>
        </p:txBody>
      </p:sp>
      <p:sp>
        <p:nvSpPr>
          <p:cNvPr id="10" name="TextBox 9">
            <a:extLst>
              <a:ext uri="{FF2B5EF4-FFF2-40B4-BE49-F238E27FC236}">
                <a16:creationId xmlns:a16="http://schemas.microsoft.com/office/drawing/2014/main" id="{42B92596-8D95-8652-5231-0B83D55D8B15}"/>
              </a:ext>
            </a:extLst>
          </p:cNvPr>
          <p:cNvSpPr txBox="1"/>
          <p:nvPr/>
        </p:nvSpPr>
        <p:spPr>
          <a:xfrm>
            <a:off x="8369213" y="2373086"/>
            <a:ext cx="3517987" cy="1200329"/>
          </a:xfrm>
          <a:prstGeom prst="rect">
            <a:avLst/>
          </a:prstGeom>
          <a:noFill/>
        </p:spPr>
        <p:txBody>
          <a:bodyPr wrap="square" rtlCol="0">
            <a:spAutoFit/>
          </a:bodyPr>
          <a:lstStyle/>
          <a:p>
            <a:r>
              <a:rPr lang="en-US" dirty="0"/>
              <a:t>Orders fell drastically from 110K pre-crisis to 33K during the crisis, reflecting a 70% overall decline in demand.</a:t>
            </a:r>
          </a:p>
        </p:txBody>
      </p:sp>
    </p:spTree>
    <p:extLst>
      <p:ext uri="{BB962C8B-B14F-4D97-AF65-F5344CB8AC3E}">
        <p14:creationId xmlns:p14="http://schemas.microsoft.com/office/powerpoint/2010/main" val="602773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7642CD1E-218B-D127-0F0E-B80E9A4741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2ED7EE-7E5F-497F-90EA-0691FB6FCA53}"/>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114DCD5D-6A6C-42F8-9B25-918B291D82EB}"/>
              </a:ext>
            </a:extLst>
          </p:cNvPr>
          <p:cNvSpPr txBox="1"/>
          <p:nvPr/>
        </p:nvSpPr>
        <p:spPr>
          <a:xfrm>
            <a:off x="1415141" y="969535"/>
            <a:ext cx="10058401" cy="646331"/>
          </a:xfrm>
          <a:prstGeom prst="rect">
            <a:avLst/>
          </a:prstGeom>
          <a:noFill/>
        </p:spPr>
        <p:txBody>
          <a:bodyPr wrap="square" rtlCol="0">
            <a:spAutoFit/>
          </a:bodyPr>
          <a:lstStyle/>
          <a:p>
            <a:r>
              <a:rPr lang="en-US" b="1" dirty="0"/>
              <a:t>2. </a:t>
            </a:r>
            <a:r>
              <a:rPr lang="en-US" dirty="0"/>
              <a:t>Which top 5 city groups experienced the highest percentage decline in orders during the crisis period compared to the pre-crisis period?</a:t>
            </a:r>
          </a:p>
        </p:txBody>
      </p:sp>
      <p:pic>
        <p:nvPicPr>
          <p:cNvPr id="5" name="Picture 4">
            <a:extLst>
              <a:ext uri="{FF2B5EF4-FFF2-40B4-BE49-F238E27FC236}">
                <a16:creationId xmlns:a16="http://schemas.microsoft.com/office/drawing/2014/main" id="{9C85490C-536A-429B-5CF1-96B3388937C0}"/>
              </a:ext>
            </a:extLst>
          </p:cNvPr>
          <p:cNvPicPr>
            <a:picLocks noChangeAspect="1"/>
          </p:cNvPicPr>
          <p:nvPr/>
        </p:nvPicPr>
        <p:blipFill>
          <a:blip r:embed="rId2"/>
          <a:stretch>
            <a:fillRect/>
          </a:stretch>
        </p:blipFill>
        <p:spPr>
          <a:xfrm>
            <a:off x="1415141" y="1615866"/>
            <a:ext cx="7892146" cy="3782948"/>
          </a:xfrm>
          <a:prstGeom prst="rect">
            <a:avLst/>
          </a:prstGeom>
        </p:spPr>
      </p:pic>
      <p:sp>
        <p:nvSpPr>
          <p:cNvPr id="7" name="TextBox 6">
            <a:extLst>
              <a:ext uri="{FF2B5EF4-FFF2-40B4-BE49-F238E27FC236}">
                <a16:creationId xmlns:a16="http://schemas.microsoft.com/office/drawing/2014/main" id="{E39D59C7-246A-0A2A-ACC8-24C0B32AD175}"/>
              </a:ext>
            </a:extLst>
          </p:cNvPr>
          <p:cNvSpPr txBox="1"/>
          <p:nvPr/>
        </p:nvSpPr>
        <p:spPr>
          <a:xfrm>
            <a:off x="1415141" y="5475514"/>
            <a:ext cx="10297888" cy="923330"/>
          </a:xfrm>
          <a:prstGeom prst="rect">
            <a:avLst/>
          </a:prstGeom>
          <a:noFill/>
        </p:spPr>
        <p:txBody>
          <a:bodyPr wrap="square" rtlCol="0">
            <a:spAutoFit/>
          </a:bodyPr>
          <a:lstStyle/>
          <a:p>
            <a:r>
              <a:rPr lang="en-US" dirty="0"/>
              <a:t>Bengaluru, Mumbai, and Delhi recorded the highest drop in orders during the crisis, with sharp declines in both demand and customer activity. These metro cities also showed elevated cancellation rates, indicating stronger crisis sensitivity compared to other regions</a:t>
            </a:r>
          </a:p>
        </p:txBody>
      </p:sp>
    </p:spTree>
    <p:extLst>
      <p:ext uri="{BB962C8B-B14F-4D97-AF65-F5344CB8AC3E}">
        <p14:creationId xmlns:p14="http://schemas.microsoft.com/office/powerpoint/2010/main" val="2634901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E89BDA39-C2D7-4C1B-C876-2562E3F3D4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9F12DF-DE49-0BB1-30EB-EDF2B68C01A9}"/>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83D93FDD-6D1B-7726-6FC7-C972A09EBDF5}"/>
              </a:ext>
            </a:extLst>
          </p:cNvPr>
          <p:cNvSpPr txBox="1"/>
          <p:nvPr/>
        </p:nvSpPr>
        <p:spPr>
          <a:xfrm>
            <a:off x="1415141" y="969535"/>
            <a:ext cx="10058401" cy="646331"/>
          </a:xfrm>
          <a:prstGeom prst="rect">
            <a:avLst/>
          </a:prstGeom>
          <a:noFill/>
        </p:spPr>
        <p:txBody>
          <a:bodyPr wrap="square" rtlCol="0">
            <a:spAutoFit/>
          </a:bodyPr>
          <a:lstStyle/>
          <a:p>
            <a:r>
              <a:rPr lang="en-US" b="1" dirty="0"/>
              <a:t>3. </a:t>
            </a:r>
            <a:r>
              <a:rPr lang="en-US" dirty="0"/>
              <a:t>Among restaurants with at least 50 pre-crisis orders, which top 10 high-volume restaurants experienced the largest percentage decline in order counts during the crisis period? </a:t>
            </a:r>
          </a:p>
        </p:txBody>
      </p:sp>
      <p:pic>
        <p:nvPicPr>
          <p:cNvPr id="6" name="Picture 5">
            <a:extLst>
              <a:ext uri="{FF2B5EF4-FFF2-40B4-BE49-F238E27FC236}">
                <a16:creationId xmlns:a16="http://schemas.microsoft.com/office/drawing/2014/main" id="{D640CEA8-B8B4-2686-9297-26B7E7DF15A0}"/>
              </a:ext>
            </a:extLst>
          </p:cNvPr>
          <p:cNvPicPr>
            <a:picLocks noChangeAspect="1"/>
          </p:cNvPicPr>
          <p:nvPr/>
        </p:nvPicPr>
        <p:blipFill>
          <a:blip r:embed="rId2"/>
          <a:stretch>
            <a:fillRect/>
          </a:stretch>
        </p:blipFill>
        <p:spPr>
          <a:xfrm>
            <a:off x="1273629" y="1781002"/>
            <a:ext cx="6966858" cy="3459462"/>
          </a:xfrm>
          <a:prstGeom prst="rect">
            <a:avLst/>
          </a:prstGeom>
        </p:spPr>
      </p:pic>
      <p:sp>
        <p:nvSpPr>
          <p:cNvPr id="8" name="TextBox 7">
            <a:extLst>
              <a:ext uri="{FF2B5EF4-FFF2-40B4-BE49-F238E27FC236}">
                <a16:creationId xmlns:a16="http://schemas.microsoft.com/office/drawing/2014/main" id="{3F729D48-24A5-6AB6-92D9-D84425FCF023}"/>
              </a:ext>
            </a:extLst>
          </p:cNvPr>
          <p:cNvSpPr txBox="1"/>
          <p:nvPr/>
        </p:nvSpPr>
        <p:spPr>
          <a:xfrm>
            <a:off x="1273629" y="5240464"/>
            <a:ext cx="9002485" cy="646331"/>
          </a:xfrm>
          <a:prstGeom prst="rect">
            <a:avLst/>
          </a:prstGeom>
          <a:noFill/>
        </p:spPr>
        <p:txBody>
          <a:bodyPr wrap="square" rtlCol="0">
            <a:spAutoFit/>
          </a:bodyPr>
          <a:lstStyle/>
          <a:p>
            <a:r>
              <a:rPr lang="en-US" dirty="0"/>
              <a:t>Punjabi Mess Stop and Kolkata Curry Stop were the most impacted high-volume restaurants, showing the steepest decline in orders during the crisis.</a:t>
            </a:r>
          </a:p>
        </p:txBody>
      </p:sp>
    </p:spTree>
    <p:extLst>
      <p:ext uri="{BB962C8B-B14F-4D97-AF65-F5344CB8AC3E}">
        <p14:creationId xmlns:p14="http://schemas.microsoft.com/office/powerpoint/2010/main" val="1355920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58720B5A-80CA-B2D4-95B7-7C93681163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343CAF-E1DE-D20D-7608-3C01F3E3C925}"/>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EBE4185E-2441-023D-8777-EF7B102EBEF6}"/>
              </a:ext>
            </a:extLst>
          </p:cNvPr>
          <p:cNvSpPr txBox="1"/>
          <p:nvPr/>
        </p:nvSpPr>
        <p:spPr>
          <a:xfrm>
            <a:off x="1415141" y="969535"/>
            <a:ext cx="10058401" cy="646331"/>
          </a:xfrm>
          <a:prstGeom prst="rect">
            <a:avLst/>
          </a:prstGeom>
          <a:noFill/>
        </p:spPr>
        <p:txBody>
          <a:bodyPr wrap="square" rtlCol="0">
            <a:spAutoFit/>
          </a:bodyPr>
          <a:lstStyle/>
          <a:p>
            <a:r>
              <a:rPr lang="en-US" b="1" dirty="0"/>
              <a:t>4. </a:t>
            </a:r>
            <a:r>
              <a:rPr lang="en-US" dirty="0"/>
              <a:t>Cancellation Analysis: What is the cancellation rate trend pre-crisis vs crisis, and which cities are most affected? </a:t>
            </a:r>
          </a:p>
        </p:txBody>
      </p:sp>
      <p:pic>
        <p:nvPicPr>
          <p:cNvPr id="4" name="Picture 3">
            <a:extLst>
              <a:ext uri="{FF2B5EF4-FFF2-40B4-BE49-F238E27FC236}">
                <a16:creationId xmlns:a16="http://schemas.microsoft.com/office/drawing/2014/main" id="{102C1961-153A-0119-2ECC-2884955F3DB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15141" y="1615866"/>
            <a:ext cx="7892146" cy="3782948"/>
          </a:xfrm>
          <a:prstGeom prst="rect">
            <a:avLst/>
          </a:prstGeom>
        </p:spPr>
      </p:pic>
      <p:sp>
        <p:nvSpPr>
          <p:cNvPr id="5" name="TextBox 4">
            <a:extLst>
              <a:ext uri="{FF2B5EF4-FFF2-40B4-BE49-F238E27FC236}">
                <a16:creationId xmlns:a16="http://schemas.microsoft.com/office/drawing/2014/main" id="{6052C8F5-8AD3-E6D3-CC73-32906EC4A976}"/>
              </a:ext>
            </a:extLst>
          </p:cNvPr>
          <p:cNvSpPr txBox="1"/>
          <p:nvPr/>
        </p:nvSpPr>
        <p:spPr>
          <a:xfrm>
            <a:off x="1415141" y="5475514"/>
            <a:ext cx="8022773" cy="646331"/>
          </a:xfrm>
          <a:prstGeom prst="rect">
            <a:avLst/>
          </a:prstGeom>
          <a:noFill/>
        </p:spPr>
        <p:txBody>
          <a:bodyPr wrap="square" rtlCol="0">
            <a:spAutoFit/>
          </a:bodyPr>
          <a:lstStyle/>
          <a:p>
            <a:r>
              <a:rPr lang="en-US" dirty="0"/>
              <a:t>Bengaluru, Mumbai, and Delhi recorded the highest cancellation rates during the crisis due to delivery outages.</a:t>
            </a:r>
          </a:p>
        </p:txBody>
      </p:sp>
    </p:spTree>
    <p:extLst>
      <p:ext uri="{BB962C8B-B14F-4D97-AF65-F5344CB8AC3E}">
        <p14:creationId xmlns:p14="http://schemas.microsoft.com/office/powerpoint/2010/main" val="292766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C829286B-2708-4E36-AFEC-7B3860ECA7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DEF9C1-04DF-7FCB-1A20-FF9B583E12EA}"/>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9DB3B2D2-75FB-BCF6-B20A-1EE63B75FA54}"/>
              </a:ext>
            </a:extLst>
          </p:cNvPr>
          <p:cNvSpPr txBox="1"/>
          <p:nvPr/>
        </p:nvSpPr>
        <p:spPr>
          <a:xfrm>
            <a:off x="1415141" y="969535"/>
            <a:ext cx="10058401" cy="646331"/>
          </a:xfrm>
          <a:prstGeom prst="rect">
            <a:avLst/>
          </a:prstGeom>
          <a:noFill/>
        </p:spPr>
        <p:txBody>
          <a:bodyPr wrap="square" rtlCol="0">
            <a:spAutoFit/>
          </a:bodyPr>
          <a:lstStyle/>
          <a:p>
            <a:r>
              <a:rPr lang="en-US" b="1" dirty="0"/>
              <a:t>5. </a:t>
            </a:r>
            <a:r>
              <a:rPr lang="en-US" dirty="0"/>
              <a:t>Delivery SLA: Measure average delivery time across phases. Did SLA compliance worsen significantly in the crisis period? </a:t>
            </a:r>
          </a:p>
        </p:txBody>
      </p:sp>
      <p:pic>
        <p:nvPicPr>
          <p:cNvPr id="7" name="Picture 6">
            <a:extLst>
              <a:ext uri="{FF2B5EF4-FFF2-40B4-BE49-F238E27FC236}">
                <a16:creationId xmlns:a16="http://schemas.microsoft.com/office/drawing/2014/main" id="{0E8BBAC0-7315-DB81-2EF0-FAD99769CA29}"/>
              </a:ext>
            </a:extLst>
          </p:cNvPr>
          <p:cNvPicPr>
            <a:picLocks noChangeAspect="1"/>
          </p:cNvPicPr>
          <p:nvPr/>
        </p:nvPicPr>
        <p:blipFill>
          <a:blip r:embed="rId2"/>
          <a:stretch>
            <a:fillRect/>
          </a:stretch>
        </p:blipFill>
        <p:spPr>
          <a:xfrm>
            <a:off x="1415141" y="1727113"/>
            <a:ext cx="9906002" cy="2550248"/>
          </a:xfrm>
          <a:prstGeom prst="rect">
            <a:avLst/>
          </a:prstGeom>
        </p:spPr>
      </p:pic>
      <p:sp>
        <p:nvSpPr>
          <p:cNvPr id="8" name="TextBox 7">
            <a:extLst>
              <a:ext uri="{FF2B5EF4-FFF2-40B4-BE49-F238E27FC236}">
                <a16:creationId xmlns:a16="http://schemas.microsoft.com/office/drawing/2014/main" id="{2E4CB210-B46E-5F9D-6C8E-60B9EF498220}"/>
              </a:ext>
            </a:extLst>
          </p:cNvPr>
          <p:cNvSpPr txBox="1"/>
          <p:nvPr/>
        </p:nvSpPr>
        <p:spPr>
          <a:xfrm>
            <a:off x="1415141" y="4277361"/>
            <a:ext cx="9906002" cy="646331"/>
          </a:xfrm>
          <a:prstGeom prst="rect">
            <a:avLst/>
          </a:prstGeom>
          <a:noFill/>
        </p:spPr>
        <p:txBody>
          <a:bodyPr wrap="square" rtlCol="0">
            <a:spAutoFit/>
          </a:bodyPr>
          <a:lstStyle/>
          <a:p>
            <a:r>
              <a:rPr lang="en-US" dirty="0"/>
              <a:t>SLA performance worsened during the crisis: average delivery time crossed 60 minutes, while on-time deliveries fell sharply across months.</a:t>
            </a:r>
          </a:p>
        </p:txBody>
      </p:sp>
    </p:spTree>
    <p:extLst>
      <p:ext uri="{BB962C8B-B14F-4D97-AF65-F5344CB8AC3E}">
        <p14:creationId xmlns:p14="http://schemas.microsoft.com/office/powerpoint/2010/main" val="3345933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FDDEF956-2C8F-8093-98ED-40853A1EC0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B5FAC1-B748-ACDB-238F-2BE5CAC35AB4}"/>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6082819F-CB43-0A00-259E-2D641F4CC761}"/>
              </a:ext>
            </a:extLst>
          </p:cNvPr>
          <p:cNvSpPr txBox="1"/>
          <p:nvPr/>
        </p:nvSpPr>
        <p:spPr>
          <a:xfrm>
            <a:off x="1415141" y="969535"/>
            <a:ext cx="10058401" cy="646331"/>
          </a:xfrm>
          <a:prstGeom prst="rect">
            <a:avLst/>
          </a:prstGeom>
          <a:noFill/>
        </p:spPr>
        <p:txBody>
          <a:bodyPr wrap="square" rtlCol="0">
            <a:spAutoFit/>
          </a:bodyPr>
          <a:lstStyle/>
          <a:p>
            <a:r>
              <a:rPr lang="en-US" b="1" dirty="0"/>
              <a:t>6. </a:t>
            </a:r>
            <a:r>
              <a:rPr lang="en-US" dirty="0"/>
              <a:t>Ratings Fluctuation: Track average customer rating month-by-month. Which months saw the sharpest drop? </a:t>
            </a:r>
          </a:p>
        </p:txBody>
      </p:sp>
      <p:pic>
        <p:nvPicPr>
          <p:cNvPr id="5" name="Picture 4">
            <a:extLst>
              <a:ext uri="{FF2B5EF4-FFF2-40B4-BE49-F238E27FC236}">
                <a16:creationId xmlns:a16="http://schemas.microsoft.com/office/drawing/2014/main" id="{7AC51102-D010-7940-1523-1A2D18251423}"/>
              </a:ext>
            </a:extLst>
          </p:cNvPr>
          <p:cNvPicPr>
            <a:picLocks noChangeAspect="1"/>
          </p:cNvPicPr>
          <p:nvPr/>
        </p:nvPicPr>
        <p:blipFill>
          <a:blip r:embed="rId2"/>
          <a:stretch>
            <a:fillRect/>
          </a:stretch>
        </p:blipFill>
        <p:spPr>
          <a:xfrm>
            <a:off x="1529359" y="1781002"/>
            <a:ext cx="7048584" cy="3574770"/>
          </a:xfrm>
          <a:prstGeom prst="rect">
            <a:avLst/>
          </a:prstGeom>
        </p:spPr>
      </p:pic>
      <p:sp>
        <p:nvSpPr>
          <p:cNvPr id="6" name="TextBox 5">
            <a:extLst>
              <a:ext uri="{FF2B5EF4-FFF2-40B4-BE49-F238E27FC236}">
                <a16:creationId xmlns:a16="http://schemas.microsoft.com/office/drawing/2014/main" id="{E6B01333-D70A-2284-09D0-67E4C162D664}"/>
              </a:ext>
            </a:extLst>
          </p:cNvPr>
          <p:cNvSpPr txBox="1"/>
          <p:nvPr/>
        </p:nvSpPr>
        <p:spPr>
          <a:xfrm>
            <a:off x="1529359" y="5355772"/>
            <a:ext cx="8322212" cy="646331"/>
          </a:xfrm>
          <a:prstGeom prst="rect">
            <a:avLst/>
          </a:prstGeom>
          <a:noFill/>
        </p:spPr>
        <p:txBody>
          <a:bodyPr wrap="square" rtlCol="0">
            <a:spAutoFit/>
          </a:bodyPr>
          <a:lstStyle/>
          <a:p>
            <a:r>
              <a:rPr lang="en-US" dirty="0"/>
              <a:t>The sharpest decline in customer ratings occurred between April and June, dropping from 4.3 to 2.7.</a:t>
            </a:r>
          </a:p>
        </p:txBody>
      </p:sp>
    </p:spTree>
    <p:extLst>
      <p:ext uri="{BB962C8B-B14F-4D97-AF65-F5344CB8AC3E}">
        <p14:creationId xmlns:p14="http://schemas.microsoft.com/office/powerpoint/2010/main" val="4242353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E105D2EF-DD7A-3C0A-56E1-CF1E8E06A9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06CAF6-3DFF-8638-CE91-D4A20B7C179D}"/>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15E08DA3-E0CE-488F-4DDF-630E0D840FAF}"/>
              </a:ext>
            </a:extLst>
          </p:cNvPr>
          <p:cNvSpPr txBox="1"/>
          <p:nvPr/>
        </p:nvSpPr>
        <p:spPr>
          <a:xfrm>
            <a:off x="1415141" y="969535"/>
            <a:ext cx="10058401" cy="646331"/>
          </a:xfrm>
          <a:prstGeom prst="rect">
            <a:avLst/>
          </a:prstGeom>
          <a:noFill/>
        </p:spPr>
        <p:txBody>
          <a:bodyPr wrap="square" rtlCol="0">
            <a:spAutoFit/>
          </a:bodyPr>
          <a:lstStyle/>
          <a:p>
            <a:r>
              <a:rPr lang="en-US" b="1" dirty="0"/>
              <a:t>7. </a:t>
            </a:r>
            <a:r>
              <a:rPr lang="en-US" dirty="0"/>
              <a:t>Sentiment Insights: During the crisis period, identify the most frequently occurring negative keywords in customer review texts. (Hint: Use a Word Cloud visual in Power BI to visualize the findings.)</a:t>
            </a:r>
          </a:p>
        </p:txBody>
      </p:sp>
      <p:pic>
        <p:nvPicPr>
          <p:cNvPr id="9" name="Picture 8">
            <a:extLst>
              <a:ext uri="{FF2B5EF4-FFF2-40B4-BE49-F238E27FC236}">
                <a16:creationId xmlns:a16="http://schemas.microsoft.com/office/drawing/2014/main" id="{CA96883E-DBD1-AB38-B46B-D044302D028A}"/>
              </a:ext>
            </a:extLst>
          </p:cNvPr>
          <p:cNvPicPr>
            <a:picLocks noChangeAspect="1"/>
          </p:cNvPicPr>
          <p:nvPr/>
        </p:nvPicPr>
        <p:blipFill>
          <a:blip r:embed="rId2"/>
          <a:stretch>
            <a:fillRect/>
          </a:stretch>
        </p:blipFill>
        <p:spPr>
          <a:xfrm>
            <a:off x="1415141" y="1781002"/>
            <a:ext cx="6102664" cy="3455027"/>
          </a:xfrm>
          <a:prstGeom prst="rect">
            <a:avLst/>
          </a:prstGeom>
        </p:spPr>
      </p:pic>
      <p:sp>
        <p:nvSpPr>
          <p:cNvPr id="10" name="TextBox 9">
            <a:extLst>
              <a:ext uri="{FF2B5EF4-FFF2-40B4-BE49-F238E27FC236}">
                <a16:creationId xmlns:a16="http://schemas.microsoft.com/office/drawing/2014/main" id="{FFCE9433-4348-9F1F-49EF-8DB4FB612CF6}"/>
              </a:ext>
            </a:extLst>
          </p:cNvPr>
          <p:cNvSpPr txBox="1"/>
          <p:nvPr/>
        </p:nvSpPr>
        <p:spPr>
          <a:xfrm>
            <a:off x="1415141" y="5431971"/>
            <a:ext cx="8131630" cy="646331"/>
          </a:xfrm>
          <a:prstGeom prst="rect">
            <a:avLst/>
          </a:prstGeom>
          <a:noFill/>
        </p:spPr>
        <p:txBody>
          <a:bodyPr wrap="square" rtlCol="0">
            <a:spAutoFit/>
          </a:bodyPr>
          <a:lstStyle/>
          <a:p>
            <a:r>
              <a:rPr lang="en-US" dirty="0"/>
              <a:t>Top negative keywords—‘not good’, ‘packaging’, ‘food issue’, and ‘late’—show that delays and safety concerns were the major crisis pain points.</a:t>
            </a:r>
          </a:p>
        </p:txBody>
      </p:sp>
    </p:spTree>
    <p:extLst>
      <p:ext uri="{BB962C8B-B14F-4D97-AF65-F5344CB8AC3E}">
        <p14:creationId xmlns:p14="http://schemas.microsoft.com/office/powerpoint/2010/main" val="1808163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AE7377ED-EFD0-CE97-CD04-F0305E9BC2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6DEA12-9CAF-DFA8-42A1-3364953D14EC}"/>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54D2CB7C-44A9-4A23-7298-6E46930AA19C}"/>
              </a:ext>
            </a:extLst>
          </p:cNvPr>
          <p:cNvSpPr txBox="1"/>
          <p:nvPr/>
        </p:nvSpPr>
        <p:spPr>
          <a:xfrm>
            <a:off x="1404256" y="893334"/>
            <a:ext cx="10058401" cy="646331"/>
          </a:xfrm>
          <a:prstGeom prst="rect">
            <a:avLst/>
          </a:prstGeom>
          <a:noFill/>
        </p:spPr>
        <p:txBody>
          <a:bodyPr wrap="square" rtlCol="0">
            <a:spAutoFit/>
          </a:bodyPr>
          <a:lstStyle/>
          <a:p>
            <a:r>
              <a:rPr lang="en-US" b="1" dirty="0"/>
              <a:t>8.</a:t>
            </a:r>
            <a:r>
              <a:rPr lang="en-US" dirty="0"/>
              <a:t> Revenue Impact: Estimate revenue loss from pre-crisis vs crisis (based on subtotal, discount, and delivery fee). </a:t>
            </a:r>
          </a:p>
        </p:txBody>
      </p:sp>
      <p:sp>
        <p:nvSpPr>
          <p:cNvPr id="6" name="TextBox 5">
            <a:extLst>
              <a:ext uri="{FF2B5EF4-FFF2-40B4-BE49-F238E27FC236}">
                <a16:creationId xmlns:a16="http://schemas.microsoft.com/office/drawing/2014/main" id="{3961EBAD-A722-934D-8234-7771753F00C9}"/>
              </a:ext>
            </a:extLst>
          </p:cNvPr>
          <p:cNvSpPr txBox="1"/>
          <p:nvPr/>
        </p:nvSpPr>
        <p:spPr>
          <a:xfrm>
            <a:off x="1204250" y="3309257"/>
            <a:ext cx="10458411" cy="646331"/>
          </a:xfrm>
          <a:prstGeom prst="rect">
            <a:avLst/>
          </a:prstGeom>
          <a:noFill/>
        </p:spPr>
        <p:txBody>
          <a:bodyPr wrap="square" rtlCol="0">
            <a:spAutoFit/>
          </a:bodyPr>
          <a:lstStyle/>
          <a:p>
            <a:r>
              <a:rPr lang="en-US" dirty="0"/>
              <a:t>QuickBite’s revenue dropped from ₹37.39M in the pre-crisis period, resulting in a revenue loss of ₹26.53M — a steep 70.96% decline driven by reduced orders and operational disruption.</a:t>
            </a:r>
          </a:p>
        </p:txBody>
      </p:sp>
      <p:pic>
        <p:nvPicPr>
          <p:cNvPr id="8" name="Picture 7">
            <a:extLst>
              <a:ext uri="{FF2B5EF4-FFF2-40B4-BE49-F238E27FC236}">
                <a16:creationId xmlns:a16="http://schemas.microsoft.com/office/drawing/2014/main" id="{22B0A3BA-BF79-B6A1-0896-6062D0BF11CC}"/>
              </a:ext>
            </a:extLst>
          </p:cNvPr>
          <p:cNvPicPr>
            <a:picLocks noChangeAspect="1"/>
          </p:cNvPicPr>
          <p:nvPr/>
        </p:nvPicPr>
        <p:blipFill>
          <a:blip r:embed="rId2"/>
          <a:stretch>
            <a:fillRect/>
          </a:stretch>
        </p:blipFill>
        <p:spPr>
          <a:xfrm>
            <a:off x="1496218" y="1550551"/>
            <a:ext cx="9727497" cy="1323278"/>
          </a:xfrm>
          <a:prstGeom prst="rect">
            <a:avLst/>
          </a:prstGeom>
        </p:spPr>
      </p:pic>
    </p:spTree>
    <p:extLst>
      <p:ext uri="{BB962C8B-B14F-4D97-AF65-F5344CB8AC3E}">
        <p14:creationId xmlns:p14="http://schemas.microsoft.com/office/powerpoint/2010/main" val="123499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4A4AB879-959A-8C18-A7C7-E3C5567F62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8661E3-8810-CD84-5B29-AC9FC8CB3277}"/>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80A7388A-03DB-E982-F871-6761DD2868D7}"/>
              </a:ext>
            </a:extLst>
          </p:cNvPr>
          <p:cNvSpPr txBox="1"/>
          <p:nvPr/>
        </p:nvSpPr>
        <p:spPr>
          <a:xfrm>
            <a:off x="1404256" y="893334"/>
            <a:ext cx="10058401" cy="646331"/>
          </a:xfrm>
          <a:prstGeom prst="rect">
            <a:avLst/>
          </a:prstGeom>
          <a:noFill/>
        </p:spPr>
        <p:txBody>
          <a:bodyPr wrap="square" rtlCol="0">
            <a:spAutoFit/>
          </a:bodyPr>
          <a:lstStyle/>
          <a:p>
            <a:r>
              <a:rPr lang="en-US" b="1" dirty="0"/>
              <a:t>9. </a:t>
            </a:r>
            <a:r>
              <a:rPr lang="en-US" dirty="0"/>
              <a:t>Loyalty Impact: Among customers who placed five or more orders before the crisis, determine how many stopped ordering during the crisis, and out of those, how many had an average rating above 4.5? </a:t>
            </a:r>
          </a:p>
        </p:txBody>
      </p:sp>
      <p:pic>
        <p:nvPicPr>
          <p:cNvPr id="9" name="Picture 8">
            <a:extLst>
              <a:ext uri="{FF2B5EF4-FFF2-40B4-BE49-F238E27FC236}">
                <a16:creationId xmlns:a16="http://schemas.microsoft.com/office/drawing/2014/main" id="{120F5311-0A1F-28C3-0CA5-3AD51906A83A}"/>
              </a:ext>
            </a:extLst>
          </p:cNvPr>
          <p:cNvPicPr>
            <a:picLocks noChangeAspect="1"/>
          </p:cNvPicPr>
          <p:nvPr/>
        </p:nvPicPr>
        <p:blipFill>
          <a:blip r:embed="rId2"/>
          <a:stretch>
            <a:fillRect/>
          </a:stretch>
        </p:blipFill>
        <p:spPr>
          <a:xfrm>
            <a:off x="1404256" y="1539665"/>
            <a:ext cx="7162801" cy="3522192"/>
          </a:xfrm>
          <a:prstGeom prst="rect">
            <a:avLst/>
          </a:prstGeom>
        </p:spPr>
      </p:pic>
      <p:sp>
        <p:nvSpPr>
          <p:cNvPr id="10" name="TextBox 9">
            <a:extLst>
              <a:ext uri="{FF2B5EF4-FFF2-40B4-BE49-F238E27FC236}">
                <a16:creationId xmlns:a16="http://schemas.microsoft.com/office/drawing/2014/main" id="{811CA204-6686-F28F-31A9-FAE6839D89A1}"/>
              </a:ext>
            </a:extLst>
          </p:cNvPr>
          <p:cNvSpPr txBox="1"/>
          <p:nvPr/>
        </p:nvSpPr>
        <p:spPr>
          <a:xfrm>
            <a:off x="1404256" y="5061857"/>
            <a:ext cx="7315201" cy="646331"/>
          </a:xfrm>
          <a:prstGeom prst="rect">
            <a:avLst/>
          </a:prstGeom>
          <a:noFill/>
        </p:spPr>
        <p:txBody>
          <a:bodyPr wrap="square" rtlCol="0">
            <a:spAutoFit/>
          </a:bodyPr>
          <a:lstStyle/>
          <a:p>
            <a:r>
              <a:rPr lang="en-US" dirty="0"/>
              <a:t>High-value customers (5+ orders) showed major churn, including many top-rated customers (4.5+), highlighting a severe loyalty issue.</a:t>
            </a:r>
          </a:p>
        </p:txBody>
      </p:sp>
    </p:spTree>
    <p:extLst>
      <p:ext uri="{BB962C8B-B14F-4D97-AF65-F5344CB8AC3E}">
        <p14:creationId xmlns:p14="http://schemas.microsoft.com/office/powerpoint/2010/main" val="2260706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184A1314-5350-A1E5-FCC9-0856195DAF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6F2229-828B-300E-C0F4-96ABD707B0ED}"/>
              </a:ext>
            </a:extLst>
          </p:cNvPr>
          <p:cNvSpPr txBox="1"/>
          <p:nvPr/>
        </p:nvSpPr>
        <p:spPr>
          <a:xfrm>
            <a:off x="3385890" y="158068"/>
            <a:ext cx="4636447" cy="646331"/>
          </a:xfrm>
          <a:prstGeom prst="rect">
            <a:avLst/>
          </a:prstGeom>
          <a:noFill/>
        </p:spPr>
        <p:txBody>
          <a:bodyPr wrap="square" rtlCol="0">
            <a:spAutoFit/>
          </a:bodyPr>
          <a:lstStyle/>
          <a:p>
            <a:pPr algn="ctr"/>
            <a:r>
              <a:rPr lang="en-US" sz="3600" dirty="0"/>
              <a:t>PRIMARY ANALYSIS</a:t>
            </a:r>
            <a:endParaRPr lang="en-US" sz="2800" b="1" dirty="0"/>
          </a:p>
        </p:txBody>
      </p:sp>
      <p:sp>
        <p:nvSpPr>
          <p:cNvPr id="3" name="TextBox 2">
            <a:extLst>
              <a:ext uri="{FF2B5EF4-FFF2-40B4-BE49-F238E27FC236}">
                <a16:creationId xmlns:a16="http://schemas.microsoft.com/office/drawing/2014/main" id="{1F9D9C92-429B-8810-000A-C97D13CE44E2}"/>
              </a:ext>
            </a:extLst>
          </p:cNvPr>
          <p:cNvSpPr txBox="1"/>
          <p:nvPr/>
        </p:nvSpPr>
        <p:spPr>
          <a:xfrm>
            <a:off x="1404256" y="893334"/>
            <a:ext cx="10058401" cy="923330"/>
          </a:xfrm>
          <a:prstGeom prst="rect">
            <a:avLst/>
          </a:prstGeom>
          <a:noFill/>
        </p:spPr>
        <p:txBody>
          <a:bodyPr wrap="square" rtlCol="0">
            <a:spAutoFit/>
          </a:bodyPr>
          <a:lstStyle/>
          <a:p>
            <a:r>
              <a:rPr lang="en-US" dirty="0"/>
              <a:t>10. Customer Lifetime Decline: Which high-value customers (top 5% by total spend before the crisis) showed the largest drop in order frequency and ratings during the crisis? What common patterns (e.g., location, cuisine preference, delivery delays) do they share? </a:t>
            </a:r>
          </a:p>
        </p:txBody>
      </p:sp>
      <p:pic>
        <p:nvPicPr>
          <p:cNvPr id="4" name="Picture 3">
            <a:extLst>
              <a:ext uri="{FF2B5EF4-FFF2-40B4-BE49-F238E27FC236}">
                <a16:creationId xmlns:a16="http://schemas.microsoft.com/office/drawing/2014/main" id="{462CEC3E-BBB1-2A9D-E235-97ACC83394A8}"/>
              </a:ext>
            </a:extLst>
          </p:cNvPr>
          <p:cNvPicPr>
            <a:picLocks noChangeAspect="1"/>
          </p:cNvPicPr>
          <p:nvPr/>
        </p:nvPicPr>
        <p:blipFill>
          <a:blip r:embed="rId2"/>
          <a:stretch>
            <a:fillRect/>
          </a:stretch>
        </p:blipFill>
        <p:spPr>
          <a:xfrm>
            <a:off x="1404256" y="1539665"/>
            <a:ext cx="7162801" cy="3522192"/>
          </a:xfrm>
          <a:prstGeom prst="rect">
            <a:avLst/>
          </a:prstGeom>
        </p:spPr>
      </p:pic>
      <p:sp>
        <p:nvSpPr>
          <p:cNvPr id="5" name="TextBox 4">
            <a:extLst>
              <a:ext uri="{FF2B5EF4-FFF2-40B4-BE49-F238E27FC236}">
                <a16:creationId xmlns:a16="http://schemas.microsoft.com/office/drawing/2014/main" id="{7B529712-7FE0-9B2E-00A8-32314095AE53}"/>
              </a:ext>
            </a:extLst>
          </p:cNvPr>
          <p:cNvSpPr txBox="1"/>
          <p:nvPr/>
        </p:nvSpPr>
        <p:spPr>
          <a:xfrm>
            <a:off x="1404256" y="5138057"/>
            <a:ext cx="8055430" cy="646331"/>
          </a:xfrm>
          <a:prstGeom prst="rect">
            <a:avLst/>
          </a:prstGeom>
          <a:noFill/>
        </p:spPr>
        <p:txBody>
          <a:bodyPr wrap="square" rtlCol="0">
            <a:spAutoFit/>
          </a:bodyPr>
          <a:lstStyle/>
          <a:p>
            <a:r>
              <a:rPr lang="en-US" dirty="0"/>
              <a:t>Top spenders with high ratings displayed sharp churn, highlighting a major lifetime value drop.</a:t>
            </a:r>
          </a:p>
        </p:txBody>
      </p:sp>
    </p:spTree>
    <p:extLst>
      <p:ext uri="{BB962C8B-B14F-4D97-AF65-F5344CB8AC3E}">
        <p14:creationId xmlns:p14="http://schemas.microsoft.com/office/powerpoint/2010/main" val="347307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32CA7840-51C1-F77D-A2A3-C042273FEF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F02915-4609-BE68-9D1A-DBD6295F64B9}"/>
              </a:ext>
            </a:extLst>
          </p:cNvPr>
          <p:cNvSpPr txBox="1"/>
          <p:nvPr/>
        </p:nvSpPr>
        <p:spPr>
          <a:xfrm>
            <a:off x="3385890" y="158068"/>
            <a:ext cx="4636447" cy="646331"/>
          </a:xfrm>
          <a:prstGeom prst="rect">
            <a:avLst/>
          </a:prstGeom>
          <a:noFill/>
        </p:spPr>
        <p:txBody>
          <a:bodyPr wrap="square" rtlCol="0">
            <a:spAutoFit/>
          </a:bodyPr>
          <a:lstStyle/>
          <a:p>
            <a:pPr algn="ctr"/>
            <a:r>
              <a:rPr lang="en-US" sz="3600" dirty="0"/>
              <a:t>SECONDARY ANALYSIS </a:t>
            </a:r>
            <a:endParaRPr lang="en-US" sz="2800" b="1" dirty="0"/>
          </a:p>
        </p:txBody>
      </p:sp>
      <p:sp>
        <p:nvSpPr>
          <p:cNvPr id="3" name="TextBox 2">
            <a:extLst>
              <a:ext uri="{FF2B5EF4-FFF2-40B4-BE49-F238E27FC236}">
                <a16:creationId xmlns:a16="http://schemas.microsoft.com/office/drawing/2014/main" id="{8CC6A62A-9AFA-D9E0-D993-5C9A5F7E6144}"/>
              </a:ext>
            </a:extLst>
          </p:cNvPr>
          <p:cNvSpPr txBox="1"/>
          <p:nvPr/>
        </p:nvSpPr>
        <p:spPr>
          <a:xfrm>
            <a:off x="1404256" y="1198134"/>
            <a:ext cx="10058401" cy="646331"/>
          </a:xfrm>
          <a:prstGeom prst="rect">
            <a:avLst/>
          </a:prstGeom>
          <a:noFill/>
        </p:spPr>
        <p:txBody>
          <a:bodyPr wrap="square" rtlCol="0">
            <a:spAutoFit/>
          </a:bodyPr>
          <a:lstStyle/>
          <a:p>
            <a:r>
              <a:rPr lang="en-US" b="1" dirty="0"/>
              <a:t>1. How does QuickBite’s crisis impact compare to competitor trends (Swiggy, Zomato) during the same period? </a:t>
            </a:r>
          </a:p>
        </p:txBody>
      </p:sp>
      <p:sp>
        <p:nvSpPr>
          <p:cNvPr id="6" name="TextBox 5">
            <a:extLst>
              <a:ext uri="{FF2B5EF4-FFF2-40B4-BE49-F238E27FC236}">
                <a16:creationId xmlns:a16="http://schemas.microsoft.com/office/drawing/2014/main" id="{55597833-9FD0-614A-2361-669D2EF4C2FB}"/>
              </a:ext>
            </a:extLst>
          </p:cNvPr>
          <p:cNvSpPr txBox="1"/>
          <p:nvPr/>
        </p:nvSpPr>
        <p:spPr>
          <a:xfrm>
            <a:off x="1513114" y="2427514"/>
            <a:ext cx="9416143" cy="2585323"/>
          </a:xfrm>
          <a:prstGeom prst="rect">
            <a:avLst/>
          </a:prstGeom>
          <a:noFill/>
        </p:spPr>
        <p:txBody>
          <a:bodyPr wrap="square" rtlCol="0">
            <a:spAutoFit/>
          </a:bodyPr>
          <a:lstStyle/>
          <a:p>
            <a:r>
              <a:rPr lang="en-US" dirty="0"/>
              <a:t>QuickBite faced a significantly sharper decline in orders (~69%) during the crisis compared to typical industry patterns.</a:t>
            </a:r>
            <a:br>
              <a:rPr lang="en-US" dirty="0"/>
            </a:br>
            <a:r>
              <a:rPr lang="en-US" dirty="0"/>
              <a:t>Competitors like Swiggy and Zomato usually experience moderate monsoon-related slowdowns of only ~20–30%.</a:t>
            </a:r>
          </a:p>
          <a:p>
            <a:r>
              <a:rPr lang="en-US" dirty="0"/>
              <a:t>The unusually steep drop at QuickBite was driven by the food-safety incident and the week-long delivery outage, making the crisis largely QuickBite-specific rather than industry-wide.</a:t>
            </a:r>
          </a:p>
          <a:p>
            <a:r>
              <a:rPr lang="en-US" dirty="0"/>
              <a:t>Recovery efforts must therefore prioritize rebuilding customer trust, strengthening operational reliability, and improving competitive positioning.</a:t>
            </a:r>
          </a:p>
          <a:p>
            <a:endParaRPr lang="en-US" dirty="0"/>
          </a:p>
        </p:txBody>
      </p:sp>
    </p:spTree>
    <p:extLst>
      <p:ext uri="{BB962C8B-B14F-4D97-AF65-F5344CB8AC3E}">
        <p14:creationId xmlns:p14="http://schemas.microsoft.com/office/powerpoint/2010/main" val="3665444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1613A1D3-86BE-22FE-7E24-F0D9BA31C2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8BF4B2-6D93-FDB4-A285-AFA38F92C680}"/>
              </a:ext>
            </a:extLst>
          </p:cNvPr>
          <p:cNvSpPr txBox="1"/>
          <p:nvPr/>
        </p:nvSpPr>
        <p:spPr>
          <a:xfrm>
            <a:off x="3385890" y="158068"/>
            <a:ext cx="4636447" cy="646331"/>
          </a:xfrm>
          <a:prstGeom prst="rect">
            <a:avLst/>
          </a:prstGeom>
          <a:noFill/>
        </p:spPr>
        <p:txBody>
          <a:bodyPr wrap="square" rtlCol="0">
            <a:spAutoFit/>
          </a:bodyPr>
          <a:lstStyle/>
          <a:p>
            <a:pPr algn="ctr"/>
            <a:r>
              <a:rPr lang="en-US" sz="3600" dirty="0"/>
              <a:t>SECONDARY ANALYSIS </a:t>
            </a:r>
            <a:endParaRPr lang="en-US" sz="2800" b="1" dirty="0"/>
          </a:p>
        </p:txBody>
      </p:sp>
      <p:sp>
        <p:nvSpPr>
          <p:cNvPr id="3" name="TextBox 2">
            <a:extLst>
              <a:ext uri="{FF2B5EF4-FFF2-40B4-BE49-F238E27FC236}">
                <a16:creationId xmlns:a16="http://schemas.microsoft.com/office/drawing/2014/main" id="{A18C66D4-C37A-98CC-C338-9898B31706E3}"/>
              </a:ext>
            </a:extLst>
          </p:cNvPr>
          <p:cNvSpPr txBox="1"/>
          <p:nvPr/>
        </p:nvSpPr>
        <p:spPr>
          <a:xfrm>
            <a:off x="1404256" y="1198134"/>
            <a:ext cx="10058401" cy="369332"/>
          </a:xfrm>
          <a:prstGeom prst="rect">
            <a:avLst/>
          </a:prstGeom>
          <a:noFill/>
        </p:spPr>
        <p:txBody>
          <a:bodyPr wrap="square" rtlCol="0">
            <a:spAutoFit/>
          </a:bodyPr>
          <a:lstStyle/>
          <a:p>
            <a:r>
              <a:rPr lang="en-US" b="1" dirty="0"/>
              <a:t>2. What external factors (e.g., ad prices, seasonal effects) may have contributed to CAC tripling? </a:t>
            </a:r>
          </a:p>
        </p:txBody>
      </p:sp>
      <p:sp>
        <p:nvSpPr>
          <p:cNvPr id="6" name="TextBox 5">
            <a:extLst>
              <a:ext uri="{FF2B5EF4-FFF2-40B4-BE49-F238E27FC236}">
                <a16:creationId xmlns:a16="http://schemas.microsoft.com/office/drawing/2014/main" id="{E8A5A527-E561-1330-4D22-2C2474D78A6A}"/>
              </a:ext>
            </a:extLst>
          </p:cNvPr>
          <p:cNvSpPr txBox="1"/>
          <p:nvPr/>
        </p:nvSpPr>
        <p:spPr>
          <a:xfrm>
            <a:off x="1513114" y="2427514"/>
            <a:ext cx="9416143" cy="2308324"/>
          </a:xfrm>
          <a:prstGeom prst="rect">
            <a:avLst/>
          </a:prstGeom>
          <a:noFill/>
        </p:spPr>
        <p:txBody>
          <a:bodyPr wrap="square" rtlCol="0">
            <a:spAutoFit/>
          </a:bodyPr>
          <a:lstStyle/>
          <a:p>
            <a:r>
              <a:rPr lang="en-US" dirty="0"/>
              <a:t>Customer acquisition cost (CAC) tripled during the crisis, signaling a much higher effort required to attract and retain customers.</a:t>
            </a:r>
          </a:p>
          <a:p>
            <a:r>
              <a:rPr lang="en-US" dirty="0"/>
              <a:t>Key contributing factors:</a:t>
            </a:r>
          </a:p>
          <a:p>
            <a:pPr marL="285750" indent="-285750">
              <a:buFont typeface="Arial" panose="020B0604020202020204" pitchFamily="34" charset="0"/>
              <a:buChar char="•"/>
            </a:pPr>
            <a:r>
              <a:rPr lang="en-US" dirty="0"/>
              <a:t>Rising digital advertising costs, which increased overall marketing expenditure.</a:t>
            </a:r>
          </a:p>
          <a:p>
            <a:pPr marL="285750" indent="-285750">
              <a:buFont typeface="Arial" panose="020B0604020202020204" pitchFamily="34" charset="0"/>
              <a:buChar char="•"/>
            </a:pPr>
            <a:r>
              <a:rPr lang="en-US" dirty="0"/>
              <a:t>Seasonal delivery challenges during monsoon, reducing conversion rates.</a:t>
            </a:r>
          </a:p>
          <a:p>
            <a:pPr marL="285750" indent="-285750">
              <a:buFont typeface="Arial" panose="020B0604020202020204" pitchFamily="34" charset="0"/>
              <a:buChar char="•"/>
            </a:pPr>
            <a:r>
              <a:rPr lang="en-US" dirty="0"/>
              <a:t>Heavier reliance on incentives such as discounts and cashback to drive orders.</a:t>
            </a:r>
          </a:p>
          <a:p>
            <a:r>
              <a:rPr lang="en-US" dirty="0"/>
              <a:t>This highlights the need for more efficient, targeted marketing strategies to optimize spending and rebuild the customer base.</a:t>
            </a:r>
          </a:p>
        </p:txBody>
      </p:sp>
    </p:spTree>
    <p:extLst>
      <p:ext uri="{BB962C8B-B14F-4D97-AF65-F5344CB8AC3E}">
        <p14:creationId xmlns:p14="http://schemas.microsoft.com/office/powerpoint/2010/main" val="2816633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6CD8F2B8-5A40-C143-DAB4-CA2CBF7BF0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A1D97A-1B10-835C-534C-B053BC4EED62}"/>
              </a:ext>
            </a:extLst>
          </p:cNvPr>
          <p:cNvSpPr txBox="1"/>
          <p:nvPr/>
        </p:nvSpPr>
        <p:spPr>
          <a:xfrm>
            <a:off x="3385890" y="158068"/>
            <a:ext cx="4636447" cy="646331"/>
          </a:xfrm>
          <a:prstGeom prst="rect">
            <a:avLst/>
          </a:prstGeom>
          <a:noFill/>
        </p:spPr>
        <p:txBody>
          <a:bodyPr wrap="square" rtlCol="0">
            <a:spAutoFit/>
          </a:bodyPr>
          <a:lstStyle/>
          <a:p>
            <a:pPr algn="ctr"/>
            <a:r>
              <a:rPr lang="en-US" sz="3600" dirty="0"/>
              <a:t>SECONDARY ANALYSIS </a:t>
            </a:r>
            <a:endParaRPr lang="en-US" sz="2800" b="1" dirty="0"/>
          </a:p>
        </p:txBody>
      </p:sp>
      <p:sp>
        <p:nvSpPr>
          <p:cNvPr id="3" name="TextBox 2">
            <a:extLst>
              <a:ext uri="{FF2B5EF4-FFF2-40B4-BE49-F238E27FC236}">
                <a16:creationId xmlns:a16="http://schemas.microsoft.com/office/drawing/2014/main" id="{7FFB2940-C2DE-6154-3260-80DF92C69BB6}"/>
              </a:ext>
            </a:extLst>
          </p:cNvPr>
          <p:cNvSpPr txBox="1"/>
          <p:nvPr/>
        </p:nvSpPr>
        <p:spPr>
          <a:xfrm>
            <a:off x="1404256" y="1198134"/>
            <a:ext cx="10058401" cy="369332"/>
          </a:xfrm>
          <a:prstGeom prst="rect">
            <a:avLst/>
          </a:prstGeom>
          <a:noFill/>
        </p:spPr>
        <p:txBody>
          <a:bodyPr wrap="square" rtlCol="0">
            <a:spAutoFit/>
          </a:bodyPr>
          <a:lstStyle/>
          <a:p>
            <a:r>
              <a:rPr lang="en-US" dirty="0"/>
              <a:t>3. Which strategies (cashbacks, partnerships, food safety audits) could be most effective to rebuild trust?</a:t>
            </a:r>
            <a:endParaRPr lang="en-US" b="1" dirty="0"/>
          </a:p>
        </p:txBody>
      </p:sp>
      <p:sp>
        <p:nvSpPr>
          <p:cNvPr id="5" name="Rectangle 2">
            <a:extLst>
              <a:ext uri="{FF2B5EF4-FFF2-40B4-BE49-F238E27FC236}">
                <a16:creationId xmlns:a16="http://schemas.microsoft.com/office/drawing/2014/main" id="{6E384AD0-6688-CA22-61C5-EA9771D42959}"/>
              </a:ext>
            </a:extLst>
          </p:cNvPr>
          <p:cNvSpPr>
            <a:spLocks noChangeArrowheads="1"/>
          </p:cNvSpPr>
          <p:nvPr/>
        </p:nvSpPr>
        <p:spPr bwMode="auto">
          <a:xfrm>
            <a:off x="1404256" y="1746995"/>
            <a:ext cx="97536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Strengthen food safety protocols</a:t>
            </a:r>
            <a:r>
              <a:rPr kumimoji="0" lang="en-US" altLang="en-US" sz="1800" b="0" i="0" u="none" strike="noStrike" cap="none" normalizeH="0" baseline="0" dirty="0">
                <a:ln>
                  <a:noFill/>
                </a:ln>
                <a:solidFill>
                  <a:schemeClr val="tx1"/>
                </a:solidFill>
                <a:effectLst/>
                <a:latin typeface="Arial" panose="020B0604020202020204" pitchFamily="34" charset="0"/>
              </a:rPr>
              <a:t> through regular audits and strict quality checks to rebuild customer trust.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Launch targeted cashback and discount campaigns</a:t>
            </a:r>
            <a:r>
              <a:rPr kumimoji="0" lang="en-US" altLang="en-US" sz="1800" b="0" i="0" u="none" strike="noStrike" cap="none" normalizeH="0" baseline="0" dirty="0">
                <a:ln>
                  <a:noFill/>
                </a:ln>
                <a:solidFill>
                  <a:schemeClr val="tx1"/>
                </a:solidFill>
                <a:effectLst/>
                <a:latin typeface="Arial" panose="020B0604020202020204" pitchFamily="34" charset="0"/>
              </a:rPr>
              <a:t> to re-engage lapsed users and high-value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 strategic partnerships with reliable restaurants</a:t>
            </a:r>
            <a:r>
              <a:rPr kumimoji="0" lang="en-US" altLang="en-US" sz="1800" b="0" i="0" u="none" strike="noStrike" cap="none" normalizeH="0" baseline="0" dirty="0">
                <a:ln>
                  <a:noFill/>
                </a:ln>
                <a:solidFill>
                  <a:schemeClr val="tx1"/>
                </a:solidFill>
                <a:effectLst/>
                <a:latin typeface="Arial" panose="020B0604020202020204" pitchFamily="34" charset="0"/>
              </a:rPr>
              <a:t> to enhance menu variety and ensure consistent service quality.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Maintain transparent communication with customers</a:t>
            </a:r>
            <a:r>
              <a:rPr kumimoji="0" lang="en-US" altLang="en-US" sz="1800" b="0" i="0" u="none" strike="noStrike" cap="none" normalizeH="0" baseline="0" dirty="0">
                <a:ln>
                  <a:noFill/>
                </a:ln>
                <a:solidFill>
                  <a:schemeClr val="tx1"/>
                </a:solidFill>
                <a:effectLst/>
                <a:latin typeface="Arial" panose="020B0604020202020204" pitchFamily="34" charset="0"/>
              </a:rPr>
              <a:t> regarding safety improvements and operational upgrades.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Adopt a combined recovery strategy</a:t>
            </a:r>
            <a:r>
              <a:rPr kumimoji="0" lang="en-US" altLang="en-US" sz="1800" b="0" i="0" u="none" strike="noStrike" cap="none" normalizeH="0" baseline="0" dirty="0">
                <a:ln>
                  <a:noFill/>
                </a:ln>
                <a:solidFill>
                  <a:schemeClr val="tx1"/>
                </a:solidFill>
                <a:effectLst/>
                <a:latin typeface="Arial" panose="020B0604020202020204" pitchFamily="34" charset="0"/>
              </a:rPr>
              <a:t> focused on operational excellence, meaningful customer incentives, and strong restaurant partnerships.</a:t>
            </a:r>
          </a:p>
        </p:txBody>
      </p:sp>
    </p:spTree>
    <p:extLst>
      <p:ext uri="{BB962C8B-B14F-4D97-AF65-F5344CB8AC3E}">
        <p14:creationId xmlns:p14="http://schemas.microsoft.com/office/powerpoint/2010/main" val="3339378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EF561544-E838-554F-2790-D9D6575A86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2C07E6-A635-DAFD-8B2F-C7046AEE356F}"/>
              </a:ext>
            </a:extLst>
          </p:cNvPr>
          <p:cNvSpPr txBox="1"/>
          <p:nvPr/>
        </p:nvSpPr>
        <p:spPr>
          <a:xfrm>
            <a:off x="3037547" y="713240"/>
            <a:ext cx="4636447" cy="646331"/>
          </a:xfrm>
          <a:prstGeom prst="rect">
            <a:avLst/>
          </a:prstGeom>
          <a:noFill/>
        </p:spPr>
        <p:txBody>
          <a:bodyPr wrap="square" rtlCol="0">
            <a:spAutoFit/>
          </a:bodyPr>
          <a:lstStyle/>
          <a:p>
            <a:r>
              <a:rPr lang="en-US" sz="3600" b="1" dirty="0"/>
              <a:t>Key Takeaways</a:t>
            </a:r>
            <a:endParaRPr lang="en-US" sz="3600" dirty="0"/>
          </a:p>
        </p:txBody>
      </p:sp>
      <p:sp>
        <p:nvSpPr>
          <p:cNvPr id="5" name="Rectangle 2">
            <a:extLst>
              <a:ext uri="{FF2B5EF4-FFF2-40B4-BE49-F238E27FC236}">
                <a16:creationId xmlns:a16="http://schemas.microsoft.com/office/drawing/2014/main" id="{51D58000-6F9D-92A1-41F4-BC8C8F68BDA1}"/>
              </a:ext>
            </a:extLst>
          </p:cNvPr>
          <p:cNvSpPr>
            <a:spLocks noChangeArrowheads="1"/>
          </p:cNvSpPr>
          <p:nvPr/>
        </p:nvSpPr>
        <p:spPr bwMode="auto">
          <a:xfrm>
            <a:off x="2177142" y="1538992"/>
            <a:ext cx="9753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dirty="0"/>
              <a:t>Demand &amp; revenue dropped ~70% post-crisis</a:t>
            </a:r>
          </a:p>
          <a:p>
            <a:pPr marL="285750" indent="-285750">
              <a:buFont typeface="Arial" panose="020B0604020202020204" pitchFamily="34" charset="0"/>
              <a:buChar char="•"/>
            </a:pPr>
            <a:r>
              <a:rPr lang="en-US" dirty="0"/>
              <a:t>Bengaluru, Delhi, Chennai most impacted</a:t>
            </a:r>
          </a:p>
          <a:p>
            <a:pPr marL="285750" indent="-285750">
              <a:buFont typeface="Arial" panose="020B0604020202020204" pitchFamily="34" charset="0"/>
              <a:buChar char="•"/>
            </a:pPr>
            <a:r>
              <a:rPr lang="en-US" dirty="0"/>
              <a:t>Basic meals stayed, premium meals collapsed</a:t>
            </a:r>
          </a:p>
          <a:p>
            <a:pPr marL="285750" indent="-285750">
              <a:buFont typeface="Arial" panose="020B0604020202020204" pitchFamily="34" charset="0"/>
              <a:buChar char="•"/>
            </a:pPr>
            <a:r>
              <a:rPr lang="en-US" dirty="0"/>
              <a:t>Delivery outages caused sharp negative sentiment spike</a:t>
            </a:r>
          </a:p>
          <a:p>
            <a:pPr marL="285750" indent="-285750">
              <a:buFont typeface="Arial" panose="020B0604020202020204" pitchFamily="34" charset="0"/>
              <a:buChar char="•"/>
            </a:pPr>
            <a:r>
              <a:rPr lang="en-US" dirty="0"/>
              <a:t>High-value customers showed heavy churn</a:t>
            </a:r>
          </a:p>
          <a:p>
            <a:pPr marL="285750" indent="-285750">
              <a:buFont typeface="Arial" panose="020B0604020202020204" pitchFamily="34" charset="0"/>
              <a:buChar char="•"/>
            </a:pPr>
            <a:r>
              <a:rPr lang="en-US" dirty="0"/>
              <a:t>Recovery requires: Safety, SLA improvement, incentives, partnerships</a:t>
            </a:r>
          </a:p>
        </p:txBody>
      </p:sp>
    </p:spTree>
    <p:extLst>
      <p:ext uri="{BB962C8B-B14F-4D97-AF65-F5344CB8AC3E}">
        <p14:creationId xmlns:p14="http://schemas.microsoft.com/office/powerpoint/2010/main" val="382917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9B34EAF5-0D15-EAFE-9515-6491C06A51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2143B1-56A6-6DCF-6BD8-1E7CE6BFF9A6}"/>
              </a:ext>
            </a:extLst>
          </p:cNvPr>
          <p:cNvSpPr txBox="1"/>
          <p:nvPr/>
        </p:nvSpPr>
        <p:spPr>
          <a:xfrm>
            <a:off x="3385890" y="158068"/>
            <a:ext cx="4636447" cy="646331"/>
          </a:xfrm>
          <a:prstGeom prst="rect">
            <a:avLst/>
          </a:prstGeom>
          <a:noFill/>
        </p:spPr>
        <p:txBody>
          <a:bodyPr wrap="square" rtlCol="0">
            <a:spAutoFit/>
          </a:bodyPr>
          <a:lstStyle/>
          <a:p>
            <a:pPr algn="ctr"/>
            <a:r>
              <a:rPr lang="en-US" sz="3600" dirty="0"/>
              <a:t>SECONDARY ANALYSIS </a:t>
            </a:r>
            <a:endParaRPr lang="en-US" sz="2800" b="1" dirty="0"/>
          </a:p>
        </p:txBody>
      </p:sp>
      <p:sp>
        <p:nvSpPr>
          <p:cNvPr id="3" name="TextBox 2">
            <a:extLst>
              <a:ext uri="{FF2B5EF4-FFF2-40B4-BE49-F238E27FC236}">
                <a16:creationId xmlns:a16="http://schemas.microsoft.com/office/drawing/2014/main" id="{CB0CA9EA-3593-5B69-75AF-9F4B5F6B83CB}"/>
              </a:ext>
            </a:extLst>
          </p:cNvPr>
          <p:cNvSpPr txBox="1"/>
          <p:nvPr/>
        </p:nvSpPr>
        <p:spPr>
          <a:xfrm>
            <a:off x="1404256" y="1198134"/>
            <a:ext cx="10058401" cy="369332"/>
          </a:xfrm>
          <a:prstGeom prst="rect">
            <a:avLst/>
          </a:prstGeom>
          <a:noFill/>
        </p:spPr>
        <p:txBody>
          <a:bodyPr wrap="square" rtlCol="0">
            <a:spAutoFit/>
          </a:bodyPr>
          <a:lstStyle/>
          <a:p>
            <a:r>
              <a:rPr lang="en-US" b="1" dirty="0"/>
              <a:t>4. Which types of restaurants (cloud kitchens vs dine-in, small vs large brands) are most likely to churn? </a:t>
            </a:r>
          </a:p>
        </p:txBody>
      </p:sp>
      <p:sp>
        <p:nvSpPr>
          <p:cNvPr id="5" name="Rectangle 2">
            <a:extLst>
              <a:ext uri="{FF2B5EF4-FFF2-40B4-BE49-F238E27FC236}">
                <a16:creationId xmlns:a16="http://schemas.microsoft.com/office/drawing/2014/main" id="{5EE2F8EA-7261-3486-C09D-41084CAE3AD3}"/>
              </a:ext>
            </a:extLst>
          </p:cNvPr>
          <p:cNvSpPr>
            <a:spLocks noChangeArrowheads="1"/>
          </p:cNvSpPr>
          <p:nvPr/>
        </p:nvSpPr>
        <p:spPr bwMode="auto">
          <a:xfrm>
            <a:off x="1404256" y="1746995"/>
            <a:ext cx="97536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Cloud kitchens and small independent restaurant brands show a higher likelihood of churn during a crisis.</a:t>
            </a:r>
            <a:br>
              <a:rPr lang="en-US" dirty="0"/>
            </a:br>
            <a:r>
              <a:rPr lang="en-US" b="1" dirty="0"/>
              <a:t>In contrast, large and established dine-in restaurants tend to remain due to stronger brand presence and a stable customer base.</a:t>
            </a:r>
            <a:endParaRPr lang="en-US" dirty="0"/>
          </a:p>
          <a:p>
            <a:r>
              <a:rPr lang="en-US" b="1" dirty="0"/>
              <a:t>Key drivers of restaurant churn:</a:t>
            </a:r>
          </a:p>
          <a:p>
            <a:pPr marL="285750" indent="-285750">
              <a:buFont typeface="Arial" panose="020B0604020202020204" pitchFamily="34" charset="0"/>
              <a:buChar char="•"/>
            </a:pPr>
            <a:r>
              <a:rPr lang="en-US" dirty="0"/>
              <a:t>Operational inefficiencies</a:t>
            </a:r>
          </a:p>
          <a:p>
            <a:pPr marL="285750" indent="-285750">
              <a:buFont typeface="Arial" panose="020B0604020202020204" pitchFamily="34" charset="0"/>
              <a:buChar char="•"/>
            </a:pPr>
            <a:r>
              <a:rPr lang="en-US" dirty="0"/>
              <a:t>Frequent delivery delays</a:t>
            </a:r>
          </a:p>
          <a:p>
            <a:pPr marL="285750" indent="-285750">
              <a:buFont typeface="Arial" panose="020B0604020202020204" pitchFamily="34" charset="0"/>
              <a:buChar char="•"/>
            </a:pPr>
            <a:r>
              <a:rPr lang="en-US" dirty="0"/>
              <a:t>Consistently low order volumes</a:t>
            </a:r>
          </a:p>
          <a:p>
            <a:r>
              <a:rPr lang="en-US" b="1" dirty="0"/>
              <a:t>Recovery efforts should prioritize high-risk restaurants to preserve platform variety and sustain customer satisfaction.</a:t>
            </a:r>
            <a:endParaRPr lang="en-US" dirty="0"/>
          </a:p>
        </p:txBody>
      </p:sp>
    </p:spTree>
    <p:extLst>
      <p:ext uri="{BB962C8B-B14F-4D97-AF65-F5344CB8AC3E}">
        <p14:creationId xmlns:p14="http://schemas.microsoft.com/office/powerpoint/2010/main" val="1323126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359B25B4-3B61-1652-C83B-672D4512F9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BF16F4-2870-7425-170D-B91EF6F97102}"/>
              </a:ext>
            </a:extLst>
          </p:cNvPr>
          <p:cNvSpPr txBox="1"/>
          <p:nvPr/>
        </p:nvSpPr>
        <p:spPr>
          <a:xfrm>
            <a:off x="3385890" y="158068"/>
            <a:ext cx="4636447" cy="646331"/>
          </a:xfrm>
          <a:prstGeom prst="rect">
            <a:avLst/>
          </a:prstGeom>
          <a:noFill/>
        </p:spPr>
        <p:txBody>
          <a:bodyPr wrap="square" rtlCol="0">
            <a:spAutoFit/>
          </a:bodyPr>
          <a:lstStyle/>
          <a:p>
            <a:pPr algn="ctr"/>
            <a:r>
              <a:rPr lang="en-US" sz="3600" dirty="0"/>
              <a:t>SECONDARY ANALYSIS </a:t>
            </a:r>
            <a:endParaRPr lang="en-US" sz="2800" b="1" dirty="0"/>
          </a:p>
        </p:txBody>
      </p:sp>
      <p:sp>
        <p:nvSpPr>
          <p:cNvPr id="3" name="TextBox 2">
            <a:extLst>
              <a:ext uri="{FF2B5EF4-FFF2-40B4-BE49-F238E27FC236}">
                <a16:creationId xmlns:a16="http://schemas.microsoft.com/office/drawing/2014/main" id="{49644CC7-C59C-AF6A-9B9A-5313EB96ABF2}"/>
              </a:ext>
            </a:extLst>
          </p:cNvPr>
          <p:cNvSpPr txBox="1"/>
          <p:nvPr/>
        </p:nvSpPr>
        <p:spPr>
          <a:xfrm>
            <a:off x="1404256" y="1198134"/>
            <a:ext cx="10058401" cy="646331"/>
          </a:xfrm>
          <a:prstGeom prst="rect">
            <a:avLst/>
          </a:prstGeom>
          <a:noFill/>
        </p:spPr>
        <p:txBody>
          <a:bodyPr wrap="square" rtlCol="0">
            <a:spAutoFit/>
          </a:bodyPr>
          <a:lstStyle/>
          <a:p>
            <a:r>
              <a:rPr lang="en-US" b="1" dirty="0"/>
              <a:t>5. Which lapsed customers (churned post-crisis) show the highest probability of returning with the right incentives? </a:t>
            </a:r>
          </a:p>
        </p:txBody>
      </p:sp>
      <p:sp>
        <p:nvSpPr>
          <p:cNvPr id="5" name="Rectangle 2">
            <a:extLst>
              <a:ext uri="{FF2B5EF4-FFF2-40B4-BE49-F238E27FC236}">
                <a16:creationId xmlns:a16="http://schemas.microsoft.com/office/drawing/2014/main" id="{349E0CB1-D65F-5F08-AAE7-3142EC8B3F75}"/>
              </a:ext>
            </a:extLst>
          </p:cNvPr>
          <p:cNvSpPr>
            <a:spLocks noChangeArrowheads="1"/>
          </p:cNvSpPr>
          <p:nvPr/>
        </p:nvSpPr>
        <p:spPr bwMode="auto">
          <a:xfrm>
            <a:off x="1404256" y="1921166"/>
            <a:ext cx="97536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High-value lapsed customers have the strongest likelihood of returning when offered targeted incentives.</a:t>
            </a:r>
            <a:br>
              <a:rPr lang="en-US" dirty="0"/>
            </a:br>
            <a:r>
              <a:rPr lang="en-US" b="1" dirty="0"/>
              <a:t>Customers with a pre-crisis order frequency of ≥5 or average ratings ≥4.5 show the highest re-engagement potential.</a:t>
            </a:r>
            <a:endParaRPr lang="en-US" dirty="0"/>
          </a:p>
          <a:p>
            <a:r>
              <a:rPr lang="en-US" b="1" dirty="0"/>
              <a:t>Effective incentive strategies include:</a:t>
            </a:r>
          </a:p>
          <a:p>
            <a:pPr marL="285750" indent="-285750">
              <a:buFont typeface="Arial" panose="020B0604020202020204" pitchFamily="34" charset="0"/>
              <a:buChar char="•"/>
            </a:pPr>
            <a:r>
              <a:rPr lang="en-US" dirty="0"/>
              <a:t>Personalized cashback or discount offers</a:t>
            </a:r>
          </a:p>
          <a:p>
            <a:pPr marL="285750" indent="-285750">
              <a:buFont typeface="Arial" panose="020B0604020202020204" pitchFamily="34" charset="0"/>
              <a:buChar char="•"/>
            </a:pPr>
            <a:r>
              <a:rPr lang="en-US" dirty="0"/>
              <a:t>Exclusive loyalty rewards</a:t>
            </a:r>
          </a:p>
          <a:p>
            <a:pPr marL="285750" indent="-285750">
              <a:buFont typeface="Arial" panose="020B0604020202020204" pitchFamily="34" charset="0"/>
              <a:buChar char="•"/>
            </a:pPr>
            <a:r>
              <a:rPr lang="en-US" dirty="0"/>
              <a:t>Targeted communication highlighting service improvements</a:t>
            </a:r>
          </a:p>
          <a:p>
            <a:r>
              <a:rPr lang="en-US" b="1" dirty="0"/>
              <a:t>Focusing recovery efforts on these high-potential segments can maximize revenue impact and rebuild engagement efficiently.</a:t>
            </a:r>
            <a:endParaRPr lang="en-US" dirty="0"/>
          </a:p>
        </p:txBody>
      </p:sp>
    </p:spTree>
    <p:extLst>
      <p:ext uri="{BB962C8B-B14F-4D97-AF65-F5344CB8AC3E}">
        <p14:creationId xmlns:p14="http://schemas.microsoft.com/office/powerpoint/2010/main" val="1877898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B3413732-B24C-2E36-5FDF-261F62A91E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1DC2F0-D22E-C301-C9D6-28B06A0EBBD9}"/>
              </a:ext>
            </a:extLst>
          </p:cNvPr>
          <p:cNvSpPr txBox="1"/>
          <p:nvPr/>
        </p:nvSpPr>
        <p:spPr>
          <a:xfrm>
            <a:off x="3385890" y="158068"/>
            <a:ext cx="4636447" cy="646331"/>
          </a:xfrm>
          <a:prstGeom prst="rect">
            <a:avLst/>
          </a:prstGeom>
          <a:noFill/>
        </p:spPr>
        <p:txBody>
          <a:bodyPr wrap="square" rtlCol="0">
            <a:spAutoFit/>
          </a:bodyPr>
          <a:lstStyle/>
          <a:p>
            <a:pPr algn="ctr"/>
            <a:r>
              <a:rPr lang="en-US" sz="3600" dirty="0"/>
              <a:t>Extra Details</a:t>
            </a:r>
            <a:endParaRPr lang="en-US" sz="2800" b="1" dirty="0"/>
          </a:p>
        </p:txBody>
      </p:sp>
      <p:sp>
        <p:nvSpPr>
          <p:cNvPr id="3" name="TextBox 2">
            <a:extLst>
              <a:ext uri="{FF2B5EF4-FFF2-40B4-BE49-F238E27FC236}">
                <a16:creationId xmlns:a16="http://schemas.microsoft.com/office/drawing/2014/main" id="{C51FF7F9-A742-5B5B-F7E8-CAA0C3AB0224}"/>
              </a:ext>
            </a:extLst>
          </p:cNvPr>
          <p:cNvSpPr txBox="1"/>
          <p:nvPr/>
        </p:nvSpPr>
        <p:spPr>
          <a:xfrm>
            <a:off x="1404256" y="1198134"/>
            <a:ext cx="10058401" cy="369332"/>
          </a:xfrm>
          <a:prstGeom prst="rect">
            <a:avLst/>
          </a:prstGeom>
          <a:noFill/>
        </p:spPr>
        <p:txBody>
          <a:bodyPr wrap="square" rtlCol="0">
            <a:spAutoFit/>
          </a:bodyPr>
          <a:lstStyle/>
          <a:p>
            <a:r>
              <a:rPr lang="en-US" b="1" dirty="0"/>
              <a:t>1. Priority Cities: Which Tier-1/Tier-2 cities show the highest risk of long-term demand loss? </a:t>
            </a:r>
          </a:p>
        </p:txBody>
      </p:sp>
      <p:sp>
        <p:nvSpPr>
          <p:cNvPr id="5" name="Rectangle 2">
            <a:extLst>
              <a:ext uri="{FF2B5EF4-FFF2-40B4-BE49-F238E27FC236}">
                <a16:creationId xmlns:a16="http://schemas.microsoft.com/office/drawing/2014/main" id="{EAFEF088-17BF-C038-2238-CEA0315B1F2B}"/>
              </a:ext>
            </a:extLst>
          </p:cNvPr>
          <p:cNvSpPr>
            <a:spLocks noChangeArrowheads="1"/>
          </p:cNvSpPr>
          <p:nvPr/>
        </p:nvSpPr>
        <p:spPr bwMode="auto">
          <a:xfrm>
            <a:off x="1404256" y="2059665"/>
            <a:ext cx="9753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Priority Cities at Risk of Long-Term Demand Loss</a:t>
            </a:r>
          </a:p>
          <a:p>
            <a:r>
              <a:rPr lang="en-US" b="1" dirty="0"/>
              <a:t>High-Risk Cities (Severe Demand Drop):</a:t>
            </a:r>
            <a:endParaRPr lang="en-US" dirty="0"/>
          </a:p>
          <a:p>
            <a:pPr marL="285750" indent="-285750">
              <a:buFont typeface="Arial" panose="020B0604020202020204" pitchFamily="34" charset="0"/>
              <a:buChar char="•"/>
            </a:pPr>
            <a:r>
              <a:rPr lang="en-US" b="1" dirty="0"/>
              <a:t>Bengaluru</a:t>
            </a:r>
            <a:r>
              <a:rPr lang="en-US" dirty="0"/>
              <a:t> – largest order decline and highest cancellation rates</a:t>
            </a:r>
          </a:p>
          <a:p>
            <a:pPr marL="285750" indent="-285750">
              <a:buFont typeface="Arial" panose="020B0604020202020204" pitchFamily="34" charset="0"/>
              <a:buChar char="•"/>
            </a:pPr>
            <a:r>
              <a:rPr lang="en-US" b="1" dirty="0"/>
              <a:t>Delhi</a:t>
            </a:r>
            <a:r>
              <a:rPr lang="en-US" dirty="0"/>
              <a:t> – heavy drop in crisis orders</a:t>
            </a:r>
          </a:p>
          <a:p>
            <a:pPr marL="285750" indent="-285750">
              <a:buFont typeface="Arial" panose="020B0604020202020204" pitchFamily="34" charset="0"/>
              <a:buChar char="•"/>
            </a:pPr>
            <a:r>
              <a:rPr lang="en-US" b="1" dirty="0"/>
              <a:t>Chennai</a:t>
            </a:r>
            <a:r>
              <a:rPr lang="en-US" dirty="0"/>
              <a:t> – significant decline and rising cancellations</a:t>
            </a:r>
          </a:p>
          <a:p>
            <a:r>
              <a:rPr lang="en-US" b="1" dirty="0"/>
              <a:t>Moderate-Risk Cities:</a:t>
            </a:r>
            <a:endParaRPr lang="en-US" dirty="0"/>
          </a:p>
          <a:p>
            <a:pPr marL="285750" indent="-285750">
              <a:buFont typeface="Arial" panose="020B0604020202020204" pitchFamily="34" charset="0"/>
              <a:buChar char="•"/>
            </a:pPr>
            <a:r>
              <a:rPr lang="en-US" b="1" dirty="0"/>
              <a:t>Hyderabad</a:t>
            </a:r>
            <a:r>
              <a:rPr lang="en-US" dirty="0"/>
              <a:t>, </a:t>
            </a:r>
            <a:r>
              <a:rPr lang="en-US" b="1" dirty="0"/>
              <a:t>Pune</a:t>
            </a:r>
            <a:r>
              <a:rPr lang="en-US" dirty="0"/>
              <a:t> – noticeable but manageable drops</a:t>
            </a:r>
          </a:p>
          <a:p>
            <a:r>
              <a:rPr lang="en-US" b="1" dirty="0"/>
              <a:t>Low-Risk City:</a:t>
            </a:r>
            <a:endParaRPr lang="en-US" dirty="0"/>
          </a:p>
          <a:p>
            <a:pPr marL="285750" indent="-285750">
              <a:buFont typeface="Arial" panose="020B0604020202020204" pitchFamily="34" charset="0"/>
              <a:buChar char="•"/>
            </a:pPr>
            <a:r>
              <a:rPr lang="en-US" b="1" dirty="0"/>
              <a:t>Ahmedabad</a:t>
            </a:r>
            <a:r>
              <a:rPr lang="en-US" dirty="0"/>
              <a:t> – stable performance, smallest decline</a:t>
            </a:r>
          </a:p>
        </p:txBody>
      </p:sp>
    </p:spTree>
    <p:extLst>
      <p:ext uri="{BB962C8B-B14F-4D97-AF65-F5344CB8AC3E}">
        <p14:creationId xmlns:p14="http://schemas.microsoft.com/office/powerpoint/2010/main" val="4294224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94503E97-BF5A-A0DE-A23E-E406B80E93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5E2537-1F36-64B4-1213-405A77E02106}"/>
              </a:ext>
            </a:extLst>
          </p:cNvPr>
          <p:cNvSpPr txBox="1"/>
          <p:nvPr/>
        </p:nvSpPr>
        <p:spPr>
          <a:xfrm>
            <a:off x="3385890" y="158068"/>
            <a:ext cx="4636447" cy="646331"/>
          </a:xfrm>
          <a:prstGeom prst="rect">
            <a:avLst/>
          </a:prstGeom>
          <a:noFill/>
        </p:spPr>
        <p:txBody>
          <a:bodyPr wrap="square" rtlCol="0">
            <a:spAutoFit/>
          </a:bodyPr>
          <a:lstStyle/>
          <a:p>
            <a:pPr algn="ctr"/>
            <a:r>
              <a:rPr lang="en-US" sz="3600" dirty="0"/>
              <a:t>Extra Details</a:t>
            </a:r>
            <a:endParaRPr lang="en-US" sz="2800" b="1" dirty="0"/>
          </a:p>
        </p:txBody>
      </p:sp>
      <p:sp>
        <p:nvSpPr>
          <p:cNvPr id="3" name="TextBox 2">
            <a:extLst>
              <a:ext uri="{FF2B5EF4-FFF2-40B4-BE49-F238E27FC236}">
                <a16:creationId xmlns:a16="http://schemas.microsoft.com/office/drawing/2014/main" id="{705DD5CF-C0FF-B198-F65B-2FA11091C93A}"/>
              </a:ext>
            </a:extLst>
          </p:cNvPr>
          <p:cNvSpPr txBox="1"/>
          <p:nvPr/>
        </p:nvSpPr>
        <p:spPr>
          <a:xfrm>
            <a:off x="1404256" y="1198134"/>
            <a:ext cx="10058401" cy="646331"/>
          </a:xfrm>
          <a:prstGeom prst="rect">
            <a:avLst/>
          </a:prstGeom>
          <a:noFill/>
        </p:spPr>
        <p:txBody>
          <a:bodyPr wrap="square" rtlCol="0">
            <a:spAutoFit/>
          </a:bodyPr>
          <a:lstStyle/>
          <a:p>
            <a:r>
              <a:rPr lang="en-US" b="1" dirty="0"/>
              <a:t>2. Behavior Shifts: Did customers shift from high-value orders to low-value “survival orders” during crisis? </a:t>
            </a:r>
          </a:p>
        </p:txBody>
      </p:sp>
      <p:sp>
        <p:nvSpPr>
          <p:cNvPr id="5" name="Rectangle 2">
            <a:extLst>
              <a:ext uri="{FF2B5EF4-FFF2-40B4-BE49-F238E27FC236}">
                <a16:creationId xmlns:a16="http://schemas.microsoft.com/office/drawing/2014/main" id="{277074FD-BF7F-8458-DE7D-8E2308B02563}"/>
              </a:ext>
            </a:extLst>
          </p:cNvPr>
          <p:cNvSpPr>
            <a:spLocks noChangeArrowheads="1"/>
          </p:cNvSpPr>
          <p:nvPr/>
        </p:nvSpPr>
        <p:spPr bwMode="auto">
          <a:xfrm>
            <a:off x="1404256" y="1951672"/>
            <a:ext cx="97536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Customer Behavior Shift During the Crisis</a:t>
            </a:r>
          </a:p>
          <a:p>
            <a:r>
              <a:rPr lang="en-US" dirty="0"/>
              <a:t>Yes — customers </a:t>
            </a:r>
            <a:r>
              <a:rPr lang="en-US" b="1" dirty="0"/>
              <a:t>shifted from high-value meals to low-value “survival orders.”</a:t>
            </a:r>
            <a:endParaRPr lang="en-US" dirty="0"/>
          </a:p>
          <a:p>
            <a:r>
              <a:rPr lang="en-US" dirty="0"/>
              <a:t>Revenue dropped </a:t>
            </a:r>
            <a:r>
              <a:rPr lang="en-US" b="1" dirty="0"/>
              <a:t>faster</a:t>
            </a:r>
            <a:r>
              <a:rPr lang="en-US" dirty="0"/>
              <a:t> than order count → average spend per order fell.</a:t>
            </a:r>
          </a:p>
          <a:p>
            <a:r>
              <a:rPr lang="en-US" dirty="0"/>
              <a:t>Premium cuisines (Pizza, Biryani, Desserts) saw </a:t>
            </a:r>
            <a:r>
              <a:rPr lang="en-US" b="1" dirty="0"/>
              <a:t>major decline</a:t>
            </a:r>
            <a:r>
              <a:rPr lang="en-US" dirty="0"/>
              <a:t>.</a:t>
            </a:r>
          </a:p>
          <a:p>
            <a:r>
              <a:rPr lang="en-US" dirty="0"/>
              <a:t>Basic meals (North Indian, South Indian) held relatively stable.</a:t>
            </a:r>
          </a:p>
        </p:txBody>
      </p:sp>
    </p:spTree>
    <p:extLst>
      <p:ext uri="{BB962C8B-B14F-4D97-AF65-F5344CB8AC3E}">
        <p14:creationId xmlns:p14="http://schemas.microsoft.com/office/powerpoint/2010/main" val="520181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416FE423-412F-D7C1-C62A-3193B54D7A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0A42A8-530D-4D32-8C15-3654A14DA82C}"/>
              </a:ext>
            </a:extLst>
          </p:cNvPr>
          <p:cNvSpPr txBox="1"/>
          <p:nvPr/>
        </p:nvSpPr>
        <p:spPr>
          <a:xfrm>
            <a:off x="3385890" y="158068"/>
            <a:ext cx="4636447" cy="646331"/>
          </a:xfrm>
          <a:prstGeom prst="rect">
            <a:avLst/>
          </a:prstGeom>
          <a:noFill/>
        </p:spPr>
        <p:txBody>
          <a:bodyPr wrap="square" rtlCol="0">
            <a:spAutoFit/>
          </a:bodyPr>
          <a:lstStyle/>
          <a:p>
            <a:pPr algn="ctr"/>
            <a:r>
              <a:rPr lang="en-US" sz="3600" dirty="0"/>
              <a:t>Extra Details</a:t>
            </a:r>
            <a:endParaRPr lang="en-US" sz="2800" b="1" dirty="0"/>
          </a:p>
        </p:txBody>
      </p:sp>
      <p:sp>
        <p:nvSpPr>
          <p:cNvPr id="3" name="TextBox 2">
            <a:extLst>
              <a:ext uri="{FF2B5EF4-FFF2-40B4-BE49-F238E27FC236}">
                <a16:creationId xmlns:a16="http://schemas.microsoft.com/office/drawing/2014/main" id="{9A83E810-1FFD-9226-F523-37441A489CB5}"/>
              </a:ext>
            </a:extLst>
          </p:cNvPr>
          <p:cNvSpPr txBox="1"/>
          <p:nvPr/>
        </p:nvSpPr>
        <p:spPr>
          <a:xfrm>
            <a:off x="1404256" y="1198134"/>
            <a:ext cx="10058401" cy="369332"/>
          </a:xfrm>
          <a:prstGeom prst="rect">
            <a:avLst/>
          </a:prstGeom>
          <a:noFill/>
        </p:spPr>
        <p:txBody>
          <a:bodyPr wrap="square" rtlCol="0">
            <a:spAutoFit/>
          </a:bodyPr>
          <a:lstStyle/>
          <a:p>
            <a:r>
              <a:rPr lang="en-US" b="1" dirty="0"/>
              <a:t>3. Feedback Trends: Do spikes in negative reviews align with the delivery outage period? </a:t>
            </a:r>
          </a:p>
        </p:txBody>
      </p:sp>
      <p:sp>
        <p:nvSpPr>
          <p:cNvPr id="5" name="Rectangle 2">
            <a:extLst>
              <a:ext uri="{FF2B5EF4-FFF2-40B4-BE49-F238E27FC236}">
                <a16:creationId xmlns:a16="http://schemas.microsoft.com/office/drawing/2014/main" id="{7B6F259F-4A67-104B-83D8-3DCB9ACEF303}"/>
              </a:ext>
            </a:extLst>
          </p:cNvPr>
          <p:cNvSpPr>
            <a:spLocks noChangeArrowheads="1"/>
          </p:cNvSpPr>
          <p:nvPr/>
        </p:nvSpPr>
        <p:spPr bwMode="auto">
          <a:xfrm>
            <a:off x="1404256" y="1536174"/>
            <a:ext cx="9753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Negative Review Trend During Crisis Period</a:t>
            </a:r>
          </a:p>
          <a:p>
            <a:pPr marL="285750" indent="-285750">
              <a:buFont typeface="Arial" panose="020B0604020202020204" pitchFamily="34" charset="0"/>
              <a:buChar char="•"/>
            </a:pPr>
            <a:r>
              <a:rPr lang="en-US" dirty="0"/>
              <a:t>Strong spike in </a:t>
            </a:r>
            <a:r>
              <a:rPr lang="en-US" b="1" dirty="0"/>
              <a:t>negative reviews</a:t>
            </a:r>
            <a:r>
              <a:rPr lang="en-US" dirty="0"/>
              <a:t> during outage months (Jun–Sep).</a:t>
            </a:r>
          </a:p>
          <a:p>
            <a:pPr marL="285750" indent="-285750">
              <a:buFont typeface="Arial" panose="020B0604020202020204" pitchFamily="34" charset="0"/>
              <a:buChar char="•"/>
            </a:pPr>
            <a:r>
              <a:rPr lang="en-US" dirty="0"/>
              <a:t>Average rating fell sharply from </a:t>
            </a:r>
            <a:r>
              <a:rPr lang="en-US" b="1" dirty="0"/>
              <a:t>4.3 → 2.3</a:t>
            </a:r>
            <a:r>
              <a:rPr lang="en-US" dirty="0"/>
              <a:t>.</a:t>
            </a:r>
          </a:p>
          <a:p>
            <a:r>
              <a:rPr lang="en-US" dirty="0"/>
              <a:t>Common complaints:</a:t>
            </a:r>
          </a:p>
          <a:p>
            <a:pPr lvl="1"/>
            <a:r>
              <a:rPr lang="en-US" dirty="0"/>
              <a:t>Late delivery</a:t>
            </a:r>
          </a:p>
          <a:p>
            <a:pPr lvl="1"/>
            <a:r>
              <a:rPr lang="en-US" dirty="0"/>
              <a:t>Poor packaging</a:t>
            </a:r>
          </a:p>
          <a:p>
            <a:pPr lvl="1"/>
            <a:r>
              <a:rPr lang="en-US" dirty="0"/>
              <a:t>Cold food</a:t>
            </a:r>
          </a:p>
          <a:p>
            <a:pPr lvl="1"/>
            <a:r>
              <a:rPr lang="en-US" dirty="0"/>
              <a:t>Hygiene issues</a:t>
            </a:r>
          </a:p>
        </p:txBody>
      </p:sp>
    </p:spTree>
    <p:extLst>
      <p:ext uri="{BB962C8B-B14F-4D97-AF65-F5344CB8AC3E}">
        <p14:creationId xmlns:p14="http://schemas.microsoft.com/office/powerpoint/2010/main" val="3626126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268149BA-4BDD-866A-CCE6-E66EEBD0D44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9C1E151-8FB8-3E22-31D7-6F6CA8A3C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56"/>
            <a:ext cx="12194411" cy="6856644"/>
          </a:xfrm>
          <a:prstGeom prst="rect">
            <a:avLst/>
          </a:prstGeom>
        </p:spPr>
      </p:pic>
    </p:spTree>
    <p:extLst>
      <p:ext uri="{BB962C8B-B14F-4D97-AF65-F5344CB8AC3E}">
        <p14:creationId xmlns:p14="http://schemas.microsoft.com/office/powerpoint/2010/main" val="1554581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0ADB440B-098A-79EE-BB3A-AAE57512E6F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45F8D99-3905-3FC7-DFAA-B6C9EE01B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820"/>
            <a:ext cx="12153455" cy="6879819"/>
          </a:xfrm>
          <a:prstGeom prst="rect">
            <a:avLst/>
          </a:prstGeom>
        </p:spPr>
      </p:pic>
    </p:spTree>
    <p:extLst>
      <p:ext uri="{BB962C8B-B14F-4D97-AF65-F5344CB8AC3E}">
        <p14:creationId xmlns:p14="http://schemas.microsoft.com/office/powerpoint/2010/main" val="2896377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3F83FA42-7156-90D8-74FD-179BE54A317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9CC2292-E574-AEC8-5383-A05320EE2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
            <a:ext cx="12192995" cy="6857440"/>
          </a:xfrm>
          <a:prstGeom prst="rect">
            <a:avLst/>
          </a:prstGeom>
        </p:spPr>
      </p:pic>
    </p:spTree>
    <p:extLst>
      <p:ext uri="{BB962C8B-B14F-4D97-AF65-F5344CB8AC3E}">
        <p14:creationId xmlns:p14="http://schemas.microsoft.com/office/powerpoint/2010/main" val="3979931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8BC6BAFD-9BC7-5405-5872-EBF3C825C6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23268A-B5EE-B44A-CA4B-0391523AF2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43"/>
            <a:ext cx="12192000" cy="6878685"/>
          </a:xfrm>
          <a:prstGeom prst="rect">
            <a:avLst/>
          </a:prstGeom>
        </p:spPr>
      </p:pic>
    </p:spTree>
    <p:extLst>
      <p:ext uri="{BB962C8B-B14F-4D97-AF65-F5344CB8AC3E}">
        <p14:creationId xmlns:p14="http://schemas.microsoft.com/office/powerpoint/2010/main" val="2652322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9F20A5ED-43DF-E594-DC65-A70ECC0EFE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0BC63B-EBA8-BA79-C5F7-C0D015336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48"/>
            <a:ext cx="12168188" cy="6871448"/>
          </a:xfrm>
          <a:prstGeom prst="rect">
            <a:avLst/>
          </a:prstGeom>
        </p:spPr>
      </p:pic>
    </p:spTree>
    <p:extLst>
      <p:ext uri="{BB962C8B-B14F-4D97-AF65-F5344CB8AC3E}">
        <p14:creationId xmlns:p14="http://schemas.microsoft.com/office/powerpoint/2010/main" val="830737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FD1C08C3-388E-5913-DAC0-7439C19336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4E7E16-2C39-7EDC-3754-3B057DF7D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
            <a:ext cx="12192995" cy="6857440"/>
          </a:xfrm>
          <a:prstGeom prst="rect">
            <a:avLst/>
          </a:prstGeom>
        </p:spPr>
      </p:pic>
    </p:spTree>
    <p:extLst>
      <p:ext uri="{BB962C8B-B14F-4D97-AF65-F5344CB8AC3E}">
        <p14:creationId xmlns:p14="http://schemas.microsoft.com/office/powerpoint/2010/main" val="4140664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100000">
              <a:srgbClr val="ECE1D6">
                <a:alpha val="73000"/>
              </a:srgb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gradFill>
        <a:effectLst/>
      </p:bgPr>
    </p:bg>
    <p:spTree>
      <p:nvGrpSpPr>
        <p:cNvPr id="1" name="">
          <a:extLst>
            <a:ext uri="{FF2B5EF4-FFF2-40B4-BE49-F238E27FC236}">
              <a16:creationId xmlns:a16="http://schemas.microsoft.com/office/drawing/2014/main" id="{CDD1636F-F959-978F-7C4F-47B4651AA6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7D3C17-A7F4-7BAA-7CAB-B51DFE07C58A}"/>
              </a:ext>
            </a:extLst>
          </p:cNvPr>
          <p:cNvSpPr txBox="1"/>
          <p:nvPr/>
        </p:nvSpPr>
        <p:spPr>
          <a:xfrm>
            <a:off x="2895600" y="2013857"/>
            <a:ext cx="7402286" cy="1862048"/>
          </a:xfrm>
          <a:prstGeom prst="rect">
            <a:avLst/>
          </a:prstGeom>
          <a:noFill/>
        </p:spPr>
        <p:txBody>
          <a:bodyPr wrap="square" rtlCol="0">
            <a:spAutoFit/>
          </a:bodyPr>
          <a:lstStyle/>
          <a:p>
            <a:r>
              <a:rPr lang="en-US" sz="11500" dirty="0"/>
              <a:t>THANK YOU </a:t>
            </a:r>
          </a:p>
        </p:txBody>
      </p:sp>
    </p:spTree>
    <p:extLst>
      <p:ext uri="{BB962C8B-B14F-4D97-AF65-F5344CB8AC3E}">
        <p14:creationId xmlns:p14="http://schemas.microsoft.com/office/powerpoint/2010/main" val="19189134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381</TotalTime>
  <Words>1630</Words>
  <Application>Microsoft Office PowerPoint</Application>
  <PresentationFormat>Widescreen</PresentationFormat>
  <Paragraphs>127</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Bahnschrift SemiBold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Nirbhay Kumar</dc:creator>
  <cp:lastModifiedBy>Nirbhay Kumar</cp:lastModifiedBy>
  <cp:revision>19</cp:revision>
  <dcterms:created xsi:type="dcterms:W3CDTF">2025-12-06T09:24:26Z</dcterms:created>
  <dcterms:modified xsi:type="dcterms:W3CDTF">2025-12-06T17:10:41Z</dcterms:modified>
</cp:coreProperties>
</file>